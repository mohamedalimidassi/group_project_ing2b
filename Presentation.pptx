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Nunito Bold" charset="1" panose="00000000000000000000"/>
      <p:regular r:id="rId16"/>
    </p:embeddedFont>
    <p:embeddedFont>
      <p:font typeface="PT Sans" charset="1" panose="020B0503020203020204"/>
      <p:regular r:id="rId17"/>
    </p:embeddedFont>
    <p:embeddedFont>
      <p:font typeface="Nunito Light" charset="1" panose="00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www.example.com" TargetMode="External" Type="http://schemas.openxmlformats.org/officeDocument/2006/relationships/hyperlink"/><Relationship Id="rId4"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0002E">
                <a:alpha val="56078"/>
              </a:srgbClr>
            </a:solidFill>
          </p:spPr>
        </p:sp>
      </p:grpSp>
      <p:sp>
        <p:nvSpPr>
          <p:cNvPr name="TextBox 6" id="6"/>
          <p:cNvSpPr txBox="true"/>
          <p:nvPr/>
        </p:nvSpPr>
        <p:spPr>
          <a:xfrm rot="0">
            <a:off x="1047159" y="3217516"/>
            <a:ext cx="16193691" cy="1788614"/>
          </a:xfrm>
          <a:prstGeom prst="rect">
            <a:avLst/>
          </a:prstGeom>
        </p:spPr>
        <p:txBody>
          <a:bodyPr anchor="t" rtlCol="false" tIns="0" lIns="0" bIns="0" rIns="0">
            <a:spAutoFit/>
          </a:bodyPr>
          <a:lstStyle/>
          <a:p>
            <a:pPr algn="l">
              <a:lnSpc>
                <a:spcPts val="6875"/>
              </a:lnSpc>
            </a:pPr>
            <a:r>
              <a:rPr lang="en-US" sz="5500" b="true">
                <a:solidFill>
                  <a:srgbClr val="FFFFFF"/>
                </a:solidFill>
                <a:latin typeface="Nunito Bold"/>
                <a:ea typeface="Nunito Bold"/>
                <a:cs typeface="Nunito Bold"/>
                <a:sym typeface="Nunito Bold"/>
              </a:rPr>
              <a:t>Plateforme de Bien-être et d'Entraînement Personnalisé</a:t>
            </a:r>
          </a:p>
        </p:txBody>
      </p:sp>
      <p:sp>
        <p:nvSpPr>
          <p:cNvPr name="TextBox 7" id="7"/>
          <p:cNvSpPr txBox="true"/>
          <p:nvPr/>
        </p:nvSpPr>
        <p:spPr>
          <a:xfrm rot="0">
            <a:off x="1047159" y="5509317"/>
            <a:ext cx="16193691" cy="1531591"/>
          </a:xfrm>
          <a:prstGeom prst="rect">
            <a:avLst/>
          </a:prstGeom>
        </p:spPr>
        <p:txBody>
          <a:bodyPr anchor="t" rtlCol="false" tIns="0" lIns="0" bIns="0" rIns="0">
            <a:spAutoFit/>
          </a:bodyPr>
          <a:lstStyle/>
          <a:p>
            <a:pPr algn="l">
              <a:lnSpc>
                <a:spcPts val="3750"/>
              </a:lnSpc>
            </a:pPr>
            <a:r>
              <a:rPr lang="en-US" sz="2312">
                <a:solidFill>
                  <a:srgbClr val="FFFFFF"/>
                </a:solidFill>
                <a:latin typeface="PT Sans"/>
                <a:ea typeface="PT Sans"/>
                <a:cs typeface="PT Sans"/>
                <a:sym typeface="PT Sans"/>
              </a:rPr>
              <a:t>Dans un monde où le temps est une denrée rare, prendre soin de soi devient un défi. Notre plateforme offre une solution numérique complète pour faciliter l'accès à des activités sportives, des coachs qualifiés et un environnement bienveillant, encourageant ainsi l'adoption d'un mode de vie plus sain et équilibré.</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0002E">
                <a:alpha val="56078"/>
              </a:srgbClr>
            </a:solidFill>
          </p:spPr>
        </p:sp>
      </p:grpSp>
      <p:sp>
        <p:nvSpPr>
          <p:cNvPr name="TextBox 6" id="6"/>
          <p:cNvSpPr txBox="true"/>
          <p:nvPr/>
        </p:nvSpPr>
        <p:spPr>
          <a:xfrm rot="0">
            <a:off x="1047159" y="3098454"/>
            <a:ext cx="13322351" cy="732682"/>
          </a:xfrm>
          <a:prstGeom prst="rect">
            <a:avLst/>
          </a:prstGeom>
        </p:spPr>
        <p:txBody>
          <a:bodyPr anchor="t" rtlCol="false" tIns="0" lIns="0" bIns="0" rIns="0">
            <a:spAutoFit/>
          </a:bodyPr>
          <a:lstStyle/>
          <a:p>
            <a:pPr algn="l">
              <a:lnSpc>
                <a:spcPts val="5500"/>
              </a:lnSpc>
            </a:pPr>
            <a:r>
              <a:rPr lang="en-US" sz="4375" b="true">
                <a:solidFill>
                  <a:srgbClr val="FFFFFF"/>
                </a:solidFill>
                <a:latin typeface="Nunito Bold"/>
                <a:ea typeface="Nunito Bold"/>
                <a:cs typeface="Nunito Bold"/>
                <a:sym typeface="Nunito Bold"/>
              </a:rPr>
              <a:t>Notre Mission : Dépasser les Obstacles au Bien-être</a:t>
            </a:r>
          </a:p>
        </p:txBody>
      </p:sp>
      <p:grpSp>
        <p:nvGrpSpPr>
          <p:cNvPr name="Group 7" id="7"/>
          <p:cNvGrpSpPr/>
          <p:nvPr/>
        </p:nvGrpSpPr>
        <p:grpSpPr>
          <a:xfrm rot="0">
            <a:off x="1028109" y="4410523"/>
            <a:ext cx="5236521" cy="2768356"/>
            <a:chOff x="0" y="0"/>
            <a:chExt cx="6982028" cy="3691141"/>
          </a:xfrm>
        </p:grpSpPr>
        <p:sp>
          <p:nvSpPr>
            <p:cNvPr name="Freeform 8" id="8"/>
            <p:cNvSpPr/>
            <p:nvPr/>
          </p:nvSpPr>
          <p:spPr>
            <a:xfrm flipH="false" flipV="false" rot="0">
              <a:off x="25400" y="25400"/>
              <a:ext cx="6931279" cy="3640328"/>
            </a:xfrm>
            <a:custGeom>
              <a:avLst/>
              <a:gdLst/>
              <a:ahLst/>
              <a:cxnLst/>
              <a:rect r="r" b="b" t="t" l="l"/>
              <a:pathLst>
                <a:path h="3640328" w="6931279">
                  <a:moveTo>
                    <a:pt x="0" y="243840"/>
                  </a:moveTo>
                  <a:cubicBezTo>
                    <a:pt x="0" y="109220"/>
                    <a:pt x="109855" y="0"/>
                    <a:pt x="245491" y="0"/>
                  </a:cubicBezTo>
                  <a:lnTo>
                    <a:pt x="6685788" y="0"/>
                  </a:lnTo>
                  <a:cubicBezTo>
                    <a:pt x="6821297" y="0"/>
                    <a:pt x="6931279" y="109220"/>
                    <a:pt x="6931279" y="243840"/>
                  </a:cubicBezTo>
                  <a:lnTo>
                    <a:pt x="6931279" y="3396488"/>
                  </a:lnTo>
                  <a:cubicBezTo>
                    <a:pt x="6931279" y="3531108"/>
                    <a:pt x="6821424" y="3640328"/>
                    <a:pt x="6685788" y="3640328"/>
                  </a:cubicBezTo>
                  <a:lnTo>
                    <a:pt x="245491" y="3640328"/>
                  </a:lnTo>
                  <a:cubicBezTo>
                    <a:pt x="109982" y="3640328"/>
                    <a:pt x="0" y="3531108"/>
                    <a:pt x="0" y="3396488"/>
                  </a:cubicBezTo>
                  <a:close/>
                </a:path>
              </a:pathLst>
            </a:custGeom>
            <a:solidFill>
              <a:srgbClr val="00002E">
                <a:alpha val="56078"/>
              </a:srgbClr>
            </a:solidFill>
          </p:spPr>
        </p:sp>
        <p:sp>
          <p:nvSpPr>
            <p:cNvPr name="Freeform 9" id="9"/>
            <p:cNvSpPr/>
            <p:nvPr/>
          </p:nvSpPr>
          <p:spPr>
            <a:xfrm flipH="false" flipV="false" rot="0">
              <a:off x="0" y="0"/>
              <a:ext cx="6982079" cy="3691128"/>
            </a:xfrm>
            <a:custGeom>
              <a:avLst/>
              <a:gdLst/>
              <a:ahLst/>
              <a:cxnLst/>
              <a:rect r="r" b="b" t="t" l="l"/>
              <a:pathLst>
                <a:path h="3691128" w="6982079">
                  <a:moveTo>
                    <a:pt x="0" y="269240"/>
                  </a:moveTo>
                  <a:cubicBezTo>
                    <a:pt x="0" y="120396"/>
                    <a:pt x="121412" y="0"/>
                    <a:pt x="270891" y="0"/>
                  </a:cubicBezTo>
                  <a:lnTo>
                    <a:pt x="6711188" y="0"/>
                  </a:lnTo>
                  <a:lnTo>
                    <a:pt x="6711188" y="25400"/>
                  </a:lnTo>
                  <a:lnTo>
                    <a:pt x="6711188" y="0"/>
                  </a:lnTo>
                  <a:cubicBezTo>
                    <a:pt x="6860667" y="0"/>
                    <a:pt x="6982079" y="120396"/>
                    <a:pt x="6982079" y="269240"/>
                  </a:cubicBezTo>
                  <a:lnTo>
                    <a:pt x="6956679" y="269240"/>
                  </a:lnTo>
                  <a:lnTo>
                    <a:pt x="6982079" y="269240"/>
                  </a:lnTo>
                  <a:lnTo>
                    <a:pt x="6982079" y="3421888"/>
                  </a:lnTo>
                  <a:lnTo>
                    <a:pt x="6956679" y="3421888"/>
                  </a:lnTo>
                  <a:lnTo>
                    <a:pt x="6982079" y="3421888"/>
                  </a:lnTo>
                  <a:cubicBezTo>
                    <a:pt x="6982079" y="3570732"/>
                    <a:pt x="6860667" y="3691128"/>
                    <a:pt x="6711188" y="3691128"/>
                  </a:cubicBezTo>
                  <a:lnTo>
                    <a:pt x="6711188" y="3665728"/>
                  </a:lnTo>
                  <a:lnTo>
                    <a:pt x="6711188" y="3691128"/>
                  </a:lnTo>
                  <a:lnTo>
                    <a:pt x="270891" y="3691128"/>
                  </a:lnTo>
                  <a:lnTo>
                    <a:pt x="270891" y="3665728"/>
                  </a:lnTo>
                  <a:lnTo>
                    <a:pt x="270891" y="3691128"/>
                  </a:lnTo>
                  <a:cubicBezTo>
                    <a:pt x="121412" y="3691128"/>
                    <a:pt x="0" y="3570732"/>
                    <a:pt x="0" y="3421888"/>
                  </a:cubicBezTo>
                  <a:lnTo>
                    <a:pt x="0" y="269240"/>
                  </a:lnTo>
                  <a:lnTo>
                    <a:pt x="25400" y="269240"/>
                  </a:lnTo>
                  <a:lnTo>
                    <a:pt x="0" y="269240"/>
                  </a:lnTo>
                  <a:moveTo>
                    <a:pt x="50800" y="269240"/>
                  </a:moveTo>
                  <a:lnTo>
                    <a:pt x="50800" y="3421888"/>
                  </a:lnTo>
                  <a:lnTo>
                    <a:pt x="25400" y="3421888"/>
                  </a:lnTo>
                  <a:lnTo>
                    <a:pt x="50800" y="3421888"/>
                  </a:lnTo>
                  <a:cubicBezTo>
                    <a:pt x="50800" y="3542411"/>
                    <a:pt x="149098" y="3640328"/>
                    <a:pt x="270891" y="3640328"/>
                  </a:cubicBezTo>
                  <a:lnTo>
                    <a:pt x="6711188" y="3640328"/>
                  </a:lnTo>
                  <a:cubicBezTo>
                    <a:pt x="6832854" y="3640328"/>
                    <a:pt x="6931279" y="3542411"/>
                    <a:pt x="6931279" y="3421888"/>
                  </a:cubicBezTo>
                  <a:lnTo>
                    <a:pt x="6931279" y="269240"/>
                  </a:lnTo>
                  <a:cubicBezTo>
                    <a:pt x="6931279" y="148717"/>
                    <a:pt x="6832981" y="50800"/>
                    <a:pt x="6711188" y="50800"/>
                  </a:cubicBezTo>
                  <a:lnTo>
                    <a:pt x="270891" y="50800"/>
                  </a:lnTo>
                  <a:lnTo>
                    <a:pt x="270891" y="25400"/>
                  </a:lnTo>
                  <a:lnTo>
                    <a:pt x="270891" y="50800"/>
                  </a:lnTo>
                  <a:cubicBezTo>
                    <a:pt x="149098" y="50800"/>
                    <a:pt x="50800" y="148717"/>
                    <a:pt x="50800" y="269240"/>
                  </a:cubicBezTo>
                  <a:close/>
                </a:path>
              </a:pathLst>
            </a:custGeom>
            <a:solidFill>
              <a:srgbClr val="F2B42D"/>
            </a:solidFill>
          </p:spPr>
        </p:sp>
      </p:grpSp>
      <p:grpSp>
        <p:nvGrpSpPr>
          <p:cNvPr name="Group 10" id="10"/>
          <p:cNvGrpSpPr/>
          <p:nvPr/>
        </p:nvGrpSpPr>
        <p:grpSpPr>
          <a:xfrm rot="0">
            <a:off x="1009059" y="4429573"/>
            <a:ext cx="152400" cy="2730256"/>
            <a:chOff x="0" y="0"/>
            <a:chExt cx="203200" cy="3640341"/>
          </a:xfrm>
        </p:grpSpPr>
        <p:sp>
          <p:nvSpPr>
            <p:cNvPr name="Freeform 11" id="11"/>
            <p:cNvSpPr/>
            <p:nvPr/>
          </p:nvSpPr>
          <p:spPr>
            <a:xfrm flipH="false" flipV="false" rot="0">
              <a:off x="0" y="0"/>
              <a:ext cx="203200" cy="3640328"/>
            </a:xfrm>
            <a:custGeom>
              <a:avLst/>
              <a:gdLst/>
              <a:ahLst/>
              <a:cxnLst/>
              <a:rect r="r" b="b" t="t" l="l"/>
              <a:pathLst>
                <a:path h="3640328" w="203200">
                  <a:moveTo>
                    <a:pt x="0" y="101600"/>
                  </a:moveTo>
                  <a:cubicBezTo>
                    <a:pt x="0" y="45466"/>
                    <a:pt x="45466" y="0"/>
                    <a:pt x="101600" y="0"/>
                  </a:cubicBezTo>
                  <a:cubicBezTo>
                    <a:pt x="157734" y="0"/>
                    <a:pt x="203200" y="45466"/>
                    <a:pt x="203200" y="101600"/>
                  </a:cubicBezTo>
                  <a:lnTo>
                    <a:pt x="203200" y="3538728"/>
                  </a:lnTo>
                  <a:cubicBezTo>
                    <a:pt x="203200" y="3594862"/>
                    <a:pt x="157734" y="3640328"/>
                    <a:pt x="101600" y="3640328"/>
                  </a:cubicBezTo>
                  <a:cubicBezTo>
                    <a:pt x="45466" y="3640328"/>
                    <a:pt x="0" y="3594862"/>
                    <a:pt x="0" y="3538728"/>
                  </a:cubicBezTo>
                  <a:close/>
                </a:path>
              </a:pathLst>
            </a:custGeom>
            <a:solidFill>
              <a:srgbClr val="F2B42D"/>
            </a:solidFill>
          </p:spPr>
        </p:sp>
      </p:grpSp>
      <p:sp>
        <p:nvSpPr>
          <p:cNvPr name="TextBox 12" id="12"/>
          <p:cNvSpPr txBox="true"/>
          <p:nvPr/>
        </p:nvSpPr>
        <p:spPr>
          <a:xfrm rot="0">
            <a:off x="1498702" y="4747765"/>
            <a:ext cx="3685432" cy="458991"/>
          </a:xfrm>
          <a:prstGeom prst="rect">
            <a:avLst/>
          </a:prstGeom>
        </p:spPr>
        <p:txBody>
          <a:bodyPr anchor="t" rtlCol="false" tIns="0" lIns="0" bIns="0" rIns="0">
            <a:spAutoFit/>
          </a:bodyPr>
          <a:lstStyle/>
          <a:p>
            <a:pPr algn="l">
              <a:lnSpc>
                <a:spcPts val="3437"/>
              </a:lnSpc>
            </a:pPr>
            <a:r>
              <a:rPr lang="en-US" sz="2750" b="true">
                <a:solidFill>
                  <a:srgbClr val="FFFFFF"/>
                </a:solidFill>
                <a:latin typeface="Nunito Bold"/>
                <a:ea typeface="Nunito Bold"/>
                <a:cs typeface="Nunito Bold"/>
                <a:sym typeface="Nunito Bold"/>
              </a:rPr>
              <a:t>Manque de Ressources</a:t>
            </a:r>
          </a:p>
        </p:txBody>
      </p:sp>
      <p:sp>
        <p:nvSpPr>
          <p:cNvPr name="TextBox 13" id="13"/>
          <p:cNvSpPr txBox="true"/>
          <p:nvPr/>
        </p:nvSpPr>
        <p:spPr>
          <a:xfrm rot="0">
            <a:off x="1498702" y="5290985"/>
            <a:ext cx="4409627" cy="1531591"/>
          </a:xfrm>
          <a:prstGeom prst="rect">
            <a:avLst/>
          </a:prstGeom>
        </p:spPr>
        <p:txBody>
          <a:bodyPr anchor="t" rtlCol="false" tIns="0" lIns="0" bIns="0" rIns="0">
            <a:spAutoFit/>
          </a:bodyPr>
          <a:lstStyle/>
          <a:p>
            <a:pPr algn="l">
              <a:lnSpc>
                <a:spcPts val="3750"/>
              </a:lnSpc>
            </a:pPr>
            <a:r>
              <a:rPr lang="en-US" sz="2312">
                <a:solidFill>
                  <a:srgbClr val="FFFFFF"/>
                </a:solidFill>
                <a:latin typeface="PT Sans"/>
                <a:ea typeface="PT Sans"/>
                <a:cs typeface="PT Sans"/>
                <a:sym typeface="PT Sans"/>
              </a:rPr>
              <a:t>Difficulté à explorer les options sportives et à trouver un entraîneur adapté.</a:t>
            </a:r>
          </a:p>
        </p:txBody>
      </p:sp>
      <p:grpSp>
        <p:nvGrpSpPr>
          <p:cNvPr name="Group 14" id="14"/>
          <p:cNvGrpSpPr/>
          <p:nvPr/>
        </p:nvGrpSpPr>
        <p:grpSpPr>
          <a:xfrm rot="0">
            <a:off x="6525663" y="4410523"/>
            <a:ext cx="5236521" cy="2768356"/>
            <a:chOff x="0" y="0"/>
            <a:chExt cx="6982028" cy="3691141"/>
          </a:xfrm>
        </p:grpSpPr>
        <p:sp>
          <p:nvSpPr>
            <p:cNvPr name="Freeform 15" id="15"/>
            <p:cNvSpPr/>
            <p:nvPr/>
          </p:nvSpPr>
          <p:spPr>
            <a:xfrm flipH="false" flipV="false" rot="0">
              <a:off x="25400" y="25400"/>
              <a:ext cx="6931279" cy="3640328"/>
            </a:xfrm>
            <a:custGeom>
              <a:avLst/>
              <a:gdLst/>
              <a:ahLst/>
              <a:cxnLst/>
              <a:rect r="r" b="b" t="t" l="l"/>
              <a:pathLst>
                <a:path h="3640328" w="6931279">
                  <a:moveTo>
                    <a:pt x="0" y="243840"/>
                  </a:moveTo>
                  <a:cubicBezTo>
                    <a:pt x="0" y="109220"/>
                    <a:pt x="109855" y="0"/>
                    <a:pt x="245491" y="0"/>
                  </a:cubicBezTo>
                  <a:lnTo>
                    <a:pt x="6685788" y="0"/>
                  </a:lnTo>
                  <a:cubicBezTo>
                    <a:pt x="6821297" y="0"/>
                    <a:pt x="6931279" y="109220"/>
                    <a:pt x="6931279" y="243840"/>
                  </a:cubicBezTo>
                  <a:lnTo>
                    <a:pt x="6931279" y="3396488"/>
                  </a:lnTo>
                  <a:cubicBezTo>
                    <a:pt x="6931279" y="3531108"/>
                    <a:pt x="6821424" y="3640328"/>
                    <a:pt x="6685788" y="3640328"/>
                  </a:cubicBezTo>
                  <a:lnTo>
                    <a:pt x="245491" y="3640328"/>
                  </a:lnTo>
                  <a:cubicBezTo>
                    <a:pt x="109982" y="3640328"/>
                    <a:pt x="0" y="3531108"/>
                    <a:pt x="0" y="3396488"/>
                  </a:cubicBezTo>
                  <a:close/>
                </a:path>
              </a:pathLst>
            </a:custGeom>
            <a:solidFill>
              <a:srgbClr val="00002E">
                <a:alpha val="56078"/>
              </a:srgbClr>
            </a:solidFill>
          </p:spPr>
        </p:sp>
        <p:sp>
          <p:nvSpPr>
            <p:cNvPr name="Freeform 16" id="16"/>
            <p:cNvSpPr/>
            <p:nvPr/>
          </p:nvSpPr>
          <p:spPr>
            <a:xfrm flipH="false" flipV="false" rot="0">
              <a:off x="0" y="0"/>
              <a:ext cx="6982079" cy="3691128"/>
            </a:xfrm>
            <a:custGeom>
              <a:avLst/>
              <a:gdLst/>
              <a:ahLst/>
              <a:cxnLst/>
              <a:rect r="r" b="b" t="t" l="l"/>
              <a:pathLst>
                <a:path h="3691128" w="6982079">
                  <a:moveTo>
                    <a:pt x="0" y="269240"/>
                  </a:moveTo>
                  <a:cubicBezTo>
                    <a:pt x="0" y="120396"/>
                    <a:pt x="121412" y="0"/>
                    <a:pt x="270891" y="0"/>
                  </a:cubicBezTo>
                  <a:lnTo>
                    <a:pt x="6711188" y="0"/>
                  </a:lnTo>
                  <a:lnTo>
                    <a:pt x="6711188" y="25400"/>
                  </a:lnTo>
                  <a:lnTo>
                    <a:pt x="6711188" y="0"/>
                  </a:lnTo>
                  <a:cubicBezTo>
                    <a:pt x="6860667" y="0"/>
                    <a:pt x="6982079" y="120396"/>
                    <a:pt x="6982079" y="269240"/>
                  </a:cubicBezTo>
                  <a:lnTo>
                    <a:pt x="6956679" y="269240"/>
                  </a:lnTo>
                  <a:lnTo>
                    <a:pt x="6982079" y="269240"/>
                  </a:lnTo>
                  <a:lnTo>
                    <a:pt x="6982079" y="3421888"/>
                  </a:lnTo>
                  <a:lnTo>
                    <a:pt x="6956679" y="3421888"/>
                  </a:lnTo>
                  <a:lnTo>
                    <a:pt x="6982079" y="3421888"/>
                  </a:lnTo>
                  <a:cubicBezTo>
                    <a:pt x="6982079" y="3570732"/>
                    <a:pt x="6860667" y="3691128"/>
                    <a:pt x="6711188" y="3691128"/>
                  </a:cubicBezTo>
                  <a:lnTo>
                    <a:pt x="6711188" y="3665728"/>
                  </a:lnTo>
                  <a:lnTo>
                    <a:pt x="6711188" y="3691128"/>
                  </a:lnTo>
                  <a:lnTo>
                    <a:pt x="270891" y="3691128"/>
                  </a:lnTo>
                  <a:lnTo>
                    <a:pt x="270891" y="3665728"/>
                  </a:lnTo>
                  <a:lnTo>
                    <a:pt x="270891" y="3691128"/>
                  </a:lnTo>
                  <a:cubicBezTo>
                    <a:pt x="121412" y="3691128"/>
                    <a:pt x="0" y="3570732"/>
                    <a:pt x="0" y="3421888"/>
                  </a:cubicBezTo>
                  <a:lnTo>
                    <a:pt x="0" y="269240"/>
                  </a:lnTo>
                  <a:lnTo>
                    <a:pt x="25400" y="269240"/>
                  </a:lnTo>
                  <a:lnTo>
                    <a:pt x="0" y="269240"/>
                  </a:lnTo>
                  <a:moveTo>
                    <a:pt x="50800" y="269240"/>
                  </a:moveTo>
                  <a:lnTo>
                    <a:pt x="50800" y="3421888"/>
                  </a:lnTo>
                  <a:lnTo>
                    <a:pt x="25400" y="3421888"/>
                  </a:lnTo>
                  <a:lnTo>
                    <a:pt x="50800" y="3421888"/>
                  </a:lnTo>
                  <a:cubicBezTo>
                    <a:pt x="50800" y="3542411"/>
                    <a:pt x="149098" y="3640328"/>
                    <a:pt x="270891" y="3640328"/>
                  </a:cubicBezTo>
                  <a:lnTo>
                    <a:pt x="6711188" y="3640328"/>
                  </a:lnTo>
                  <a:cubicBezTo>
                    <a:pt x="6832854" y="3640328"/>
                    <a:pt x="6931279" y="3542411"/>
                    <a:pt x="6931279" y="3421888"/>
                  </a:cubicBezTo>
                  <a:lnTo>
                    <a:pt x="6931279" y="269240"/>
                  </a:lnTo>
                  <a:cubicBezTo>
                    <a:pt x="6931279" y="148717"/>
                    <a:pt x="6832981" y="50800"/>
                    <a:pt x="6711188" y="50800"/>
                  </a:cubicBezTo>
                  <a:lnTo>
                    <a:pt x="270891" y="50800"/>
                  </a:lnTo>
                  <a:lnTo>
                    <a:pt x="270891" y="25400"/>
                  </a:lnTo>
                  <a:lnTo>
                    <a:pt x="270891" y="50800"/>
                  </a:lnTo>
                  <a:cubicBezTo>
                    <a:pt x="149098" y="50800"/>
                    <a:pt x="50800" y="148717"/>
                    <a:pt x="50800" y="269240"/>
                  </a:cubicBezTo>
                  <a:close/>
                </a:path>
              </a:pathLst>
            </a:custGeom>
            <a:solidFill>
              <a:srgbClr val="D7425E"/>
            </a:solidFill>
          </p:spPr>
        </p:sp>
      </p:grpSp>
      <p:grpSp>
        <p:nvGrpSpPr>
          <p:cNvPr name="Group 17" id="17"/>
          <p:cNvGrpSpPr/>
          <p:nvPr/>
        </p:nvGrpSpPr>
        <p:grpSpPr>
          <a:xfrm rot="0">
            <a:off x="6506613" y="4429573"/>
            <a:ext cx="152400" cy="2730256"/>
            <a:chOff x="0" y="0"/>
            <a:chExt cx="203200" cy="3640341"/>
          </a:xfrm>
        </p:grpSpPr>
        <p:sp>
          <p:nvSpPr>
            <p:cNvPr name="Freeform 18" id="18"/>
            <p:cNvSpPr/>
            <p:nvPr/>
          </p:nvSpPr>
          <p:spPr>
            <a:xfrm flipH="false" flipV="false" rot="0">
              <a:off x="0" y="0"/>
              <a:ext cx="203200" cy="3640328"/>
            </a:xfrm>
            <a:custGeom>
              <a:avLst/>
              <a:gdLst/>
              <a:ahLst/>
              <a:cxnLst/>
              <a:rect r="r" b="b" t="t" l="l"/>
              <a:pathLst>
                <a:path h="3640328" w="203200">
                  <a:moveTo>
                    <a:pt x="0" y="101600"/>
                  </a:moveTo>
                  <a:cubicBezTo>
                    <a:pt x="0" y="45466"/>
                    <a:pt x="45466" y="0"/>
                    <a:pt x="101600" y="0"/>
                  </a:cubicBezTo>
                  <a:cubicBezTo>
                    <a:pt x="157734" y="0"/>
                    <a:pt x="203200" y="45466"/>
                    <a:pt x="203200" y="101600"/>
                  </a:cubicBezTo>
                  <a:lnTo>
                    <a:pt x="203200" y="3538728"/>
                  </a:lnTo>
                  <a:cubicBezTo>
                    <a:pt x="203200" y="3594862"/>
                    <a:pt x="157734" y="3640328"/>
                    <a:pt x="101600" y="3640328"/>
                  </a:cubicBezTo>
                  <a:cubicBezTo>
                    <a:pt x="45466" y="3640328"/>
                    <a:pt x="0" y="3594862"/>
                    <a:pt x="0" y="3538728"/>
                  </a:cubicBezTo>
                  <a:close/>
                </a:path>
              </a:pathLst>
            </a:custGeom>
            <a:solidFill>
              <a:srgbClr val="D7425E"/>
            </a:solidFill>
          </p:spPr>
        </p:sp>
      </p:grpSp>
      <p:sp>
        <p:nvSpPr>
          <p:cNvPr name="TextBox 19" id="19"/>
          <p:cNvSpPr txBox="true"/>
          <p:nvPr/>
        </p:nvSpPr>
        <p:spPr>
          <a:xfrm rot="0">
            <a:off x="6996265" y="4747765"/>
            <a:ext cx="3520230" cy="458991"/>
          </a:xfrm>
          <a:prstGeom prst="rect">
            <a:avLst/>
          </a:prstGeom>
        </p:spPr>
        <p:txBody>
          <a:bodyPr anchor="t" rtlCol="false" tIns="0" lIns="0" bIns="0" rIns="0">
            <a:spAutoFit/>
          </a:bodyPr>
          <a:lstStyle/>
          <a:p>
            <a:pPr algn="l">
              <a:lnSpc>
                <a:spcPts val="3437"/>
              </a:lnSpc>
            </a:pPr>
            <a:r>
              <a:rPr lang="en-US" sz="2750" b="true">
                <a:solidFill>
                  <a:srgbClr val="FFFFFF"/>
                </a:solidFill>
                <a:latin typeface="Nunito Bold"/>
                <a:ea typeface="Nunito Bold"/>
                <a:cs typeface="Nunito Bold"/>
                <a:sym typeface="Nunito Bold"/>
              </a:rPr>
              <a:t>Intimidation en Salle</a:t>
            </a:r>
          </a:p>
        </p:txBody>
      </p:sp>
      <p:sp>
        <p:nvSpPr>
          <p:cNvPr name="TextBox 20" id="20"/>
          <p:cNvSpPr txBox="true"/>
          <p:nvPr/>
        </p:nvSpPr>
        <p:spPr>
          <a:xfrm rot="0">
            <a:off x="6996265" y="5290985"/>
            <a:ext cx="4409627" cy="1531591"/>
          </a:xfrm>
          <a:prstGeom prst="rect">
            <a:avLst/>
          </a:prstGeom>
        </p:spPr>
        <p:txBody>
          <a:bodyPr anchor="t" rtlCol="false" tIns="0" lIns="0" bIns="0" rIns="0">
            <a:spAutoFit/>
          </a:bodyPr>
          <a:lstStyle/>
          <a:p>
            <a:pPr algn="l">
              <a:lnSpc>
                <a:spcPts val="3750"/>
              </a:lnSpc>
            </a:pPr>
            <a:r>
              <a:rPr lang="en-US" sz="2312">
                <a:solidFill>
                  <a:srgbClr val="FFFFFF"/>
                </a:solidFill>
                <a:latin typeface="PT Sans"/>
                <a:ea typeface="PT Sans"/>
                <a:cs typeface="PT Sans"/>
                <a:sym typeface="PT Sans"/>
              </a:rPr>
              <a:t>Peur et démotivation face aux environnements sportifs traditionnels.</a:t>
            </a:r>
          </a:p>
        </p:txBody>
      </p:sp>
      <p:grpSp>
        <p:nvGrpSpPr>
          <p:cNvPr name="Group 21" id="21"/>
          <p:cNvGrpSpPr/>
          <p:nvPr/>
        </p:nvGrpSpPr>
        <p:grpSpPr>
          <a:xfrm rot="0">
            <a:off x="12023227" y="4410523"/>
            <a:ext cx="5236664" cy="2768356"/>
            <a:chOff x="0" y="0"/>
            <a:chExt cx="6982219" cy="3691141"/>
          </a:xfrm>
        </p:grpSpPr>
        <p:sp>
          <p:nvSpPr>
            <p:cNvPr name="Freeform 22" id="22"/>
            <p:cNvSpPr/>
            <p:nvPr/>
          </p:nvSpPr>
          <p:spPr>
            <a:xfrm flipH="false" flipV="false" rot="0">
              <a:off x="25400" y="25400"/>
              <a:ext cx="6931533" cy="3640328"/>
            </a:xfrm>
            <a:custGeom>
              <a:avLst/>
              <a:gdLst/>
              <a:ahLst/>
              <a:cxnLst/>
              <a:rect r="r" b="b" t="t" l="l"/>
              <a:pathLst>
                <a:path h="3640328" w="6931533">
                  <a:moveTo>
                    <a:pt x="0" y="243840"/>
                  </a:moveTo>
                  <a:cubicBezTo>
                    <a:pt x="0" y="109220"/>
                    <a:pt x="109855" y="0"/>
                    <a:pt x="245491" y="0"/>
                  </a:cubicBezTo>
                  <a:lnTo>
                    <a:pt x="6686042" y="0"/>
                  </a:lnTo>
                  <a:cubicBezTo>
                    <a:pt x="6821551" y="0"/>
                    <a:pt x="6931533" y="109220"/>
                    <a:pt x="6931533" y="243840"/>
                  </a:cubicBezTo>
                  <a:lnTo>
                    <a:pt x="6931533" y="3396488"/>
                  </a:lnTo>
                  <a:cubicBezTo>
                    <a:pt x="6931533" y="3531108"/>
                    <a:pt x="6821678" y="3640328"/>
                    <a:pt x="6686042" y="3640328"/>
                  </a:cubicBezTo>
                  <a:lnTo>
                    <a:pt x="245491" y="3640328"/>
                  </a:lnTo>
                  <a:cubicBezTo>
                    <a:pt x="109982" y="3640328"/>
                    <a:pt x="0" y="3531108"/>
                    <a:pt x="0" y="3396488"/>
                  </a:cubicBezTo>
                  <a:close/>
                </a:path>
              </a:pathLst>
            </a:custGeom>
            <a:solidFill>
              <a:srgbClr val="00002E">
                <a:alpha val="56078"/>
              </a:srgbClr>
            </a:solidFill>
          </p:spPr>
        </p:sp>
        <p:sp>
          <p:nvSpPr>
            <p:cNvPr name="Freeform 23" id="23"/>
            <p:cNvSpPr/>
            <p:nvPr/>
          </p:nvSpPr>
          <p:spPr>
            <a:xfrm flipH="false" flipV="false" rot="0">
              <a:off x="0" y="0"/>
              <a:ext cx="6982333" cy="3691128"/>
            </a:xfrm>
            <a:custGeom>
              <a:avLst/>
              <a:gdLst/>
              <a:ahLst/>
              <a:cxnLst/>
              <a:rect r="r" b="b" t="t" l="l"/>
              <a:pathLst>
                <a:path h="3691128" w="6982333">
                  <a:moveTo>
                    <a:pt x="0" y="269240"/>
                  </a:moveTo>
                  <a:cubicBezTo>
                    <a:pt x="0" y="120396"/>
                    <a:pt x="121412" y="0"/>
                    <a:pt x="270891" y="0"/>
                  </a:cubicBezTo>
                  <a:lnTo>
                    <a:pt x="6711442" y="0"/>
                  </a:lnTo>
                  <a:lnTo>
                    <a:pt x="6711442" y="25400"/>
                  </a:lnTo>
                  <a:lnTo>
                    <a:pt x="6711442" y="0"/>
                  </a:lnTo>
                  <a:cubicBezTo>
                    <a:pt x="6860922" y="0"/>
                    <a:pt x="6982333" y="120396"/>
                    <a:pt x="6982333" y="269240"/>
                  </a:cubicBezTo>
                  <a:lnTo>
                    <a:pt x="6956933" y="269240"/>
                  </a:lnTo>
                  <a:lnTo>
                    <a:pt x="6982333" y="269240"/>
                  </a:lnTo>
                  <a:lnTo>
                    <a:pt x="6982333" y="3421888"/>
                  </a:lnTo>
                  <a:lnTo>
                    <a:pt x="6956933" y="3421888"/>
                  </a:lnTo>
                  <a:lnTo>
                    <a:pt x="6982333" y="3421888"/>
                  </a:lnTo>
                  <a:cubicBezTo>
                    <a:pt x="6982333" y="3570732"/>
                    <a:pt x="6860922" y="3691128"/>
                    <a:pt x="6711442" y="3691128"/>
                  </a:cubicBezTo>
                  <a:lnTo>
                    <a:pt x="6711442" y="3665728"/>
                  </a:lnTo>
                  <a:lnTo>
                    <a:pt x="6711442" y="3691128"/>
                  </a:lnTo>
                  <a:lnTo>
                    <a:pt x="270891" y="3691128"/>
                  </a:lnTo>
                  <a:lnTo>
                    <a:pt x="270891" y="3665728"/>
                  </a:lnTo>
                  <a:lnTo>
                    <a:pt x="270891" y="3691128"/>
                  </a:lnTo>
                  <a:cubicBezTo>
                    <a:pt x="121412" y="3691128"/>
                    <a:pt x="0" y="3570732"/>
                    <a:pt x="0" y="3421888"/>
                  </a:cubicBezTo>
                  <a:lnTo>
                    <a:pt x="0" y="269240"/>
                  </a:lnTo>
                  <a:lnTo>
                    <a:pt x="25400" y="269240"/>
                  </a:lnTo>
                  <a:lnTo>
                    <a:pt x="0" y="269240"/>
                  </a:lnTo>
                  <a:moveTo>
                    <a:pt x="50800" y="269240"/>
                  </a:moveTo>
                  <a:lnTo>
                    <a:pt x="50800" y="3421888"/>
                  </a:lnTo>
                  <a:lnTo>
                    <a:pt x="25400" y="3421888"/>
                  </a:lnTo>
                  <a:lnTo>
                    <a:pt x="50800" y="3421888"/>
                  </a:lnTo>
                  <a:cubicBezTo>
                    <a:pt x="50800" y="3542411"/>
                    <a:pt x="149098" y="3640328"/>
                    <a:pt x="270891" y="3640328"/>
                  </a:cubicBezTo>
                  <a:lnTo>
                    <a:pt x="6711442" y="3640328"/>
                  </a:lnTo>
                  <a:cubicBezTo>
                    <a:pt x="6833108" y="3640328"/>
                    <a:pt x="6931533" y="3542411"/>
                    <a:pt x="6931533" y="3421888"/>
                  </a:cubicBezTo>
                  <a:lnTo>
                    <a:pt x="6931533" y="269240"/>
                  </a:lnTo>
                  <a:cubicBezTo>
                    <a:pt x="6931533" y="148717"/>
                    <a:pt x="6833236" y="50800"/>
                    <a:pt x="6711442" y="50800"/>
                  </a:cubicBezTo>
                  <a:lnTo>
                    <a:pt x="270891" y="50800"/>
                  </a:lnTo>
                  <a:lnTo>
                    <a:pt x="270891" y="25400"/>
                  </a:lnTo>
                  <a:lnTo>
                    <a:pt x="270891" y="50800"/>
                  </a:lnTo>
                  <a:cubicBezTo>
                    <a:pt x="149098" y="50800"/>
                    <a:pt x="50800" y="148717"/>
                    <a:pt x="50800" y="269240"/>
                  </a:cubicBezTo>
                  <a:close/>
                </a:path>
              </a:pathLst>
            </a:custGeom>
            <a:solidFill>
              <a:srgbClr val="DD785E"/>
            </a:solidFill>
          </p:spPr>
        </p:sp>
      </p:grpSp>
      <p:grpSp>
        <p:nvGrpSpPr>
          <p:cNvPr name="Group 24" id="24"/>
          <p:cNvGrpSpPr/>
          <p:nvPr/>
        </p:nvGrpSpPr>
        <p:grpSpPr>
          <a:xfrm rot="0">
            <a:off x="12004177" y="4429573"/>
            <a:ext cx="152400" cy="2730256"/>
            <a:chOff x="0" y="0"/>
            <a:chExt cx="203200" cy="3640341"/>
          </a:xfrm>
        </p:grpSpPr>
        <p:sp>
          <p:nvSpPr>
            <p:cNvPr name="Freeform 25" id="25"/>
            <p:cNvSpPr/>
            <p:nvPr/>
          </p:nvSpPr>
          <p:spPr>
            <a:xfrm flipH="false" flipV="false" rot="0">
              <a:off x="0" y="0"/>
              <a:ext cx="203200" cy="3640328"/>
            </a:xfrm>
            <a:custGeom>
              <a:avLst/>
              <a:gdLst/>
              <a:ahLst/>
              <a:cxnLst/>
              <a:rect r="r" b="b" t="t" l="l"/>
              <a:pathLst>
                <a:path h="3640328" w="203200">
                  <a:moveTo>
                    <a:pt x="0" y="101600"/>
                  </a:moveTo>
                  <a:cubicBezTo>
                    <a:pt x="0" y="45466"/>
                    <a:pt x="45466" y="0"/>
                    <a:pt x="101600" y="0"/>
                  </a:cubicBezTo>
                  <a:cubicBezTo>
                    <a:pt x="157734" y="0"/>
                    <a:pt x="203200" y="45466"/>
                    <a:pt x="203200" y="101600"/>
                  </a:cubicBezTo>
                  <a:lnTo>
                    <a:pt x="203200" y="3538728"/>
                  </a:lnTo>
                  <a:cubicBezTo>
                    <a:pt x="203200" y="3594862"/>
                    <a:pt x="157734" y="3640328"/>
                    <a:pt x="101600" y="3640328"/>
                  </a:cubicBezTo>
                  <a:cubicBezTo>
                    <a:pt x="45466" y="3640328"/>
                    <a:pt x="0" y="3594862"/>
                    <a:pt x="0" y="3538728"/>
                  </a:cubicBezTo>
                  <a:close/>
                </a:path>
              </a:pathLst>
            </a:custGeom>
            <a:solidFill>
              <a:srgbClr val="DD785E"/>
            </a:solidFill>
          </p:spPr>
        </p:sp>
      </p:grpSp>
      <p:sp>
        <p:nvSpPr>
          <p:cNvPr name="TextBox 26" id="26"/>
          <p:cNvSpPr txBox="true"/>
          <p:nvPr/>
        </p:nvSpPr>
        <p:spPr>
          <a:xfrm rot="0">
            <a:off x="12493828" y="4747765"/>
            <a:ext cx="3785740" cy="458991"/>
          </a:xfrm>
          <a:prstGeom prst="rect">
            <a:avLst/>
          </a:prstGeom>
        </p:spPr>
        <p:txBody>
          <a:bodyPr anchor="t" rtlCol="false" tIns="0" lIns="0" bIns="0" rIns="0">
            <a:spAutoFit/>
          </a:bodyPr>
          <a:lstStyle/>
          <a:p>
            <a:pPr algn="l">
              <a:lnSpc>
                <a:spcPts val="3437"/>
              </a:lnSpc>
            </a:pPr>
            <a:r>
              <a:rPr lang="en-US" sz="2750" b="true">
                <a:solidFill>
                  <a:srgbClr val="FFFFFF"/>
                </a:solidFill>
                <a:latin typeface="Nunito Bold"/>
                <a:ea typeface="Nunito Bold"/>
                <a:cs typeface="Nunito Bold"/>
                <a:sym typeface="Nunito Bold"/>
              </a:rPr>
              <a:t>Manque d'Encadrement</a:t>
            </a:r>
          </a:p>
        </p:txBody>
      </p:sp>
      <p:sp>
        <p:nvSpPr>
          <p:cNvPr name="TextBox 27" id="27"/>
          <p:cNvSpPr txBox="true"/>
          <p:nvPr/>
        </p:nvSpPr>
        <p:spPr>
          <a:xfrm rot="0">
            <a:off x="12493828" y="5290985"/>
            <a:ext cx="4409780" cy="1531591"/>
          </a:xfrm>
          <a:prstGeom prst="rect">
            <a:avLst/>
          </a:prstGeom>
        </p:spPr>
        <p:txBody>
          <a:bodyPr anchor="t" rtlCol="false" tIns="0" lIns="0" bIns="0" rIns="0">
            <a:spAutoFit/>
          </a:bodyPr>
          <a:lstStyle/>
          <a:p>
            <a:pPr algn="l">
              <a:lnSpc>
                <a:spcPts val="3750"/>
              </a:lnSpc>
            </a:pPr>
            <a:r>
              <a:rPr lang="en-US" sz="2312">
                <a:solidFill>
                  <a:srgbClr val="FFFFFF"/>
                </a:solidFill>
                <a:latin typeface="PT Sans"/>
                <a:ea typeface="PT Sans"/>
                <a:cs typeface="PT Sans"/>
                <a:sym typeface="PT Sans"/>
              </a:rPr>
              <a:t>Difficulté à obtenir un programme d'entraînement personnalisé et abordable.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0002E">
                <a:alpha val="56078"/>
              </a:srgbClr>
            </a:solidFill>
          </p:spPr>
        </p:sp>
      </p:grpSp>
      <p:sp>
        <p:nvSpPr>
          <p:cNvPr name="TextBox 6" id="6"/>
          <p:cNvSpPr txBox="true"/>
          <p:nvPr/>
        </p:nvSpPr>
        <p:spPr>
          <a:xfrm rot="0">
            <a:off x="1047159" y="2382145"/>
            <a:ext cx="15373350" cy="732682"/>
          </a:xfrm>
          <a:prstGeom prst="rect">
            <a:avLst/>
          </a:prstGeom>
        </p:spPr>
        <p:txBody>
          <a:bodyPr anchor="t" rtlCol="false" tIns="0" lIns="0" bIns="0" rIns="0">
            <a:spAutoFit/>
          </a:bodyPr>
          <a:lstStyle/>
          <a:p>
            <a:pPr algn="l">
              <a:lnSpc>
                <a:spcPts val="5500"/>
              </a:lnSpc>
            </a:pPr>
            <a:r>
              <a:rPr lang="en-US" sz="4375" b="true">
                <a:solidFill>
                  <a:srgbClr val="FFFFFF"/>
                </a:solidFill>
                <a:latin typeface="Nunito Bold"/>
                <a:ea typeface="Nunito Bold"/>
                <a:cs typeface="Nunito Bold"/>
                <a:sym typeface="Nunito Bold"/>
              </a:rPr>
              <a:t>Objectifs et Cibles : Un Accompagnement Adapté pour Tous</a:t>
            </a:r>
          </a:p>
        </p:txBody>
      </p:sp>
      <p:sp>
        <p:nvSpPr>
          <p:cNvPr name="TextBox 7" id="7"/>
          <p:cNvSpPr txBox="true"/>
          <p:nvPr/>
        </p:nvSpPr>
        <p:spPr>
          <a:xfrm rot="0">
            <a:off x="1047159" y="3843633"/>
            <a:ext cx="4224338" cy="546945"/>
          </a:xfrm>
          <a:prstGeom prst="rect">
            <a:avLst/>
          </a:prstGeom>
        </p:spPr>
        <p:txBody>
          <a:bodyPr anchor="t" rtlCol="false" tIns="0" lIns="0" bIns="0" rIns="0">
            <a:spAutoFit/>
          </a:bodyPr>
          <a:lstStyle/>
          <a:p>
            <a:pPr algn="l">
              <a:lnSpc>
                <a:spcPts val="4125"/>
              </a:lnSpc>
            </a:pPr>
            <a:r>
              <a:rPr lang="en-US" sz="3312" b="true">
                <a:solidFill>
                  <a:srgbClr val="FFFFFF"/>
                </a:solidFill>
                <a:latin typeface="Nunito Bold"/>
                <a:ea typeface="Nunito Bold"/>
                <a:cs typeface="Nunito Bold"/>
                <a:sym typeface="Nunito Bold"/>
              </a:rPr>
              <a:t>Nos Objectifs</a:t>
            </a:r>
          </a:p>
        </p:txBody>
      </p:sp>
      <p:sp>
        <p:nvSpPr>
          <p:cNvPr name="TextBox 8" id="8"/>
          <p:cNvSpPr txBox="true"/>
          <p:nvPr/>
        </p:nvSpPr>
        <p:spPr>
          <a:xfrm rot="0">
            <a:off x="1047159" y="4594469"/>
            <a:ext cx="7731919" cy="3177178"/>
          </a:xfrm>
          <a:prstGeom prst="rect">
            <a:avLst/>
          </a:prstGeom>
        </p:spPr>
        <p:txBody>
          <a:bodyPr anchor="t" rtlCol="false" tIns="0" lIns="0" bIns="0" rIns="0">
            <a:spAutoFit/>
          </a:bodyPr>
          <a:lstStyle/>
          <a:p>
            <a:pPr algn="l" marL="348754" indent="-174377" lvl="1">
              <a:lnSpc>
                <a:spcPts val="3750"/>
              </a:lnSpc>
              <a:buFont typeface="Arial"/>
              <a:buChar char="•"/>
            </a:pPr>
            <a:r>
              <a:rPr lang="en-US" sz="2312">
                <a:solidFill>
                  <a:srgbClr val="FFFFFF"/>
                </a:solidFill>
                <a:latin typeface="PT Sans"/>
                <a:ea typeface="PT Sans"/>
                <a:cs typeface="PT Sans"/>
                <a:sym typeface="PT Sans"/>
              </a:rPr>
              <a:t>Créer une plateforme exhaustive de sports et d'entraîneurs qualifiés.</a:t>
            </a:r>
          </a:p>
          <a:p>
            <a:pPr algn="l" marL="348754" indent="-174377" lvl="1">
              <a:lnSpc>
                <a:spcPts val="3750"/>
              </a:lnSpc>
              <a:buFont typeface="Arial"/>
              <a:buChar char="•"/>
            </a:pPr>
            <a:r>
              <a:rPr lang="en-US" sz="2312">
                <a:solidFill>
                  <a:srgbClr val="FFFFFF"/>
                </a:solidFill>
                <a:latin typeface="PT Sans"/>
                <a:ea typeface="PT Sans"/>
                <a:cs typeface="PT Sans"/>
                <a:sym typeface="PT Sans"/>
              </a:rPr>
              <a:t>Lutter contre l'intimidation par des espaces bienveillants et des options d'entraînement en ligne.</a:t>
            </a:r>
          </a:p>
          <a:p>
            <a:pPr algn="l" marL="348754" indent="-174377" lvl="1">
              <a:lnSpc>
                <a:spcPts val="3750"/>
              </a:lnSpc>
              <a:buFont typeface="Arial"/>
              <a:buChar char="•"/>
            </a:pPr>
            <a:r>
              <a:rPr lang="en-US" sz="2312">
                <a:solidFill>
                  <a:srgbClr val="FFFFFF"/>
                </a:solidFill>
                <a:latin typeface="PT Sans"/>
                <a:ea typeface="PT Sans"/>
                <a:cs typeface="PT Sans"/>
                <a:sym typeface="PT Sans"/>
              </a:rPr>
              <a:t>Proposer des programmes personnalisés et abordables pour tous les budgets.</a:t>
            </a:r>
          </a:p>
        </p:txBody>
      </p:sp>
      <p:sp>
        <p:nvSpPr>
          <p:cNvPr name="TextBox 9" id="9"/>
          <p:cNvSpPr txBox="true"/>
          <p:nvPr/>
        </p:nvSpPr>
        <p:spPr>
          <a:xfrm rot="0">
            <a:off x="9518447" y="3843633"/>
            <a:ext cx="4224338" cy="546945"/>
          </a:xfrm>
          <a:prstGeom prst="rect">
            <a:avLst/>
          </a:prstGeom>
        </p:spPr>
        <p:txBody>
          <a:bodyPr anchor="t" rtlCol="false" tIns="0" lIns="0" bIns="0" rIns="0">
            <a:spAutoFit/>
          </a:bodyPr>
          <a:lstStyle/>
          <a:p>
            <a:pPr algn="l">
              <a:lnSpc>
                <a:spcPts val="4125"/>
              </a:lnSpc>
            </a:pPr>
            <a:r>
              <a:rPr lang="en-US" sz="3312" b="true">
                <a:solidFill>
                  <a:srgbClr val="FFFFFF"/>
                </a:solidFill>
                <a:latin typeface="Nunito Bold"/>
                <a:ea typeface="Nunito Bold"/>
                <a:cs typeface="Nunito Bold"/>
                <a:sym typeface="Nunito Bold"/>
              </a:rPr>
              <a:t>Nos Cibles</a:t>
            </a:r>
          </a:p>
        </p:txBody>
      </p:sp>
      <p:sp>
        <p:nvSpPr>
          <p:cNvPr name="TextBox 10" id="10"/>
          <p:cNvSpPr txBox="true"/>
          <p:nvPr/>
        </p:nvSpPr>
        <p:spPr>
          <a:xfrm rot="0">
            <a:off x="9518447" y="4594469"/>
            <a:ext cx="7731919" cy="3177178"/>
          </a:xfrm>
          <a:prstGeom prst="rect">
            <a:avLst/>
          </a:prstGeom>
        </p:spPr>
        <p:txBody>
          <a:bodyPr anchor="t" rtlCol="false" tIns="0" lIns="0" bIns="0" rIns="0">
            <a:spAutoFit/>
          </a:bodyPr>
          <a:lstStyle/>
          <a:p>
            <a:pPr algn="l" marL="348754" indent="-174377" lvl="1">
              <a:lnSpc>
                <a:spcPts val="3750"/>
              </a:lnSpc>
              <a:buFont typeface="Arial"/>
              <a:buChar char="•"/>
            </a:pPr>
            <a:r>
              <a:rPr lang="en-US" sz="2312">
                <a:solidFill>
                  <a:srgbClr val="FFFFFF"/>
                </a:solidFill>
                <a:latin typeface="PT Sans"/>
                <a:ea typeface="PT Sans"/>
                <a:cs typeface="PT Sans"/>
                <a:sym typeface="PT Sans"/>
              </a:rPr>
              <a:t>Les novices en activité physique, cherchant un point de départ.</a:t>
            </a:r>
          </a:p>
          <a:p>
            <a:pPr algn="l" marL="348754" indent="-174377" lvl="1">
              <a:lnSpc>
                <a:spcPts val="3750"/>
              </a:lnSpc>
              <a:buFont typeface="Arial"/>
              <a:buChar char="•"/>
            </a:pPr>
            <a:r>
              <a:rPr lang="en-US" sz="2312">
                <a:solidFill>
                  <a:srgbClr val="FFFFFF"/>
                </a:solidFill>
                <a:latin typeface="PT Sans"/>
                <a:ea typeface="PT Sans"/>
                <a:cs typeface="PT Sans"/>
                <a:sym typeface="PT Sans"/>
              </a:rPr>
              <a:t>Les personnes ayant subi l'intimidation en salle de sport.</a:t>
            </a:r>
          </a:p>
          <a:p>
            <a:pPr algn="l" marL="348754" indent="-174377" lvl="1">
              <a:lnSpc>
                <a:spcPts val="3750"/>
              </a:lnSpc>
              <a:buFont typeface="Arial"/>
              <a:buChar char="•"/>
            </a:pPr>
            <a:r>
              <a:rPr lang="en-US" sz="2312">
                <a:solidFill>
                  <a:srgbClr val="FFFFFF"/>
                </a:solidFill>
                <a:latin typeface="PT Sans"/>
                <a:ea typeface="PT Sans"/>
                <a:cs typeface="PT Sans"/>
                <a:sym typeface="PT Sans"/>
              </a:rPr>
              <a:t>Les utilisateurs en quête d'un programme structuré, abordable et personnalisé.</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0002E">
                <a:alpha val="56078"/>
              </a:srgbClr>
            </a:solidFill>
          </p:spPr>
        </p:sp>
      </p:grpSp>
      <p:sp>
        <p:nvSpPr>
          <p:cNvPr name="TextBox 6" id="6"/>
          <p:cNvSpPr txBox="true"/>
          <p:nvPr/>
        </p:nvSpPr>
        <p:spPr>
          <a:xfrm rot="0">
            <a:off x="1047159" y="1609134"/>
            <a:ext cx="16193691" cy="1436789"/>
          </a:xfrm>
          <a:prstGeom prst="rect">
            <a:avLst/>
          </a:prstGeom>
        </p:spPr>
        <p:txBody>
          <a:bodyPr anchor="t" rtlCol="false" tIns="0" lIns="0" bIns="0" rIns="0">
            <a:spAutoFit/>
          </a:bodyPr>
          <a:lstStyle/>
          <a:p>
            <a:pPr algn="l">
              <a:lnSpc>
                <a:spcPts val="5500"/>
              </a:lnSpc>
            </a:pPr>
            <a:r>
              <a:rPr lang="en-US" sz="4375" b="true">
                <a:solidFill>
                  <a:srgbClr val="FFFFFF"/>
                </a:solidFill>
                <a:latin typeface="Nunito Bold"/>
                <a:ea typeface="Nunito Bold"/>
                <a:cs typeface="Nunito Bold"/>
                <a:sym typeface="Nunito Bold"/>
              </a:rPr>
              <a:t>Besoins Non Fonctionnels : Une Plateforme Robuste et Accessible</a:t>
            </a:r>
          </a:p>
        </p:txBody>
      </p:sp>
      <p:sp>
        <p:nvSpPr>
          <p:cNvPr name="TextBox 7" id="7"/>
          <p:cNvSpPr txBox="true"/>
          <p:nvPr/>
        </p:nvSpPr>
        <p:spPr>
          <a:xfrm rot="0">
            <a:off x="1047159" y="3774729"/>
            <a:ext cx="4537624" cy="546945"/>
          </a:xfrm>
          <a:prstGeom prst="rect">
            <a:avLst/>
          </a:prstGeom>
        </p:spPr>
        <p:txBody>
          <a:bodyPr anchor="t" rtlCol="false" tIns="0" lIns="0" bIns="0" rIns="0">
            <a:spAutoFit/>
          </a:bodyPr>
          <a:lstStyle/>
          <a:p>
            <a:pPr algn="l">
              <a:lnSpc>
                <a:spcPts val="4125"/>
              </a:lnSpc>
            </a:pPr>
            <a:r>
              <a:rPr lang="en-US" sz="3312" b="true">
                <a:solidFill>
                  <a:srgbClr val="FFFFFF"/>
                </a:solidFill>
                <a:latin typeface="Nunito Bold"/>
                <a:ea typeface="Nunito Bold"/>
                <a:cs typeface="Nunito Bold"/>
                <a:sym typeface="Nunito Bold"/>
              </a:rPr>
              <a:t>Performance &amp; Sécurité</a:t>
            </a:r>
          </a:p>
        </p:txBody>
      </p:sp>
      <p:sp>
        <p:nvSpPr>
          <p:cNvPr name="TextBox 8" id="8"/>
          <p:cNvSpPr txBox="true"/>
          <p:nvPr/>
        </p:nvSpPr>
        <p:spPr>
          <a:xfrm rot="0">
            <a:off x="1047159" y="4525566"/>
            <a:ext cx="7731919" cy="2114998"/>
          </a:xfrm>
          <a:prstGeom prst="rect">
            <a:avLst/>
          </a:prstGeom>
        </p:spPr>
        <p:txBody>
          <a:bodyPr anchor="t" rtlCol="false" tIns="0" lIns="0" bIns="0" rIns="0">
            <a:spAutoFit/>
          </a:bodyPr>
          <a:lstStyle/>
          <a:p>
            <a:pPr algn="l" marL="348754" indent="-174377" lvl="1">
              <a:lnSpc>
                <a:spcPts val="3750"/>
              </a:lnSpc>
              <a:buFont typeface="Arial"/>
              <a:buChar char="•"/>
            </a:pPr>
            <a:r>
              <a:rPr lang="en-US" sz="2312">
                <a:solidFill>
                  <a:srgbClr val="FFFFFF"/>
                </a:solidFill>
                <a:latin typeface="PT Sans"/>
                <a:ea typeface="PT Sans"/>
                <a:cs typeface="PT Sans"/>
                <a:sym typeface="PT Sans"/>
              </a:rPr>
              <a:t>Application rapide et fluide, gérant plusieurs utilisateurs simultanément.</a:t>
            </a:r>
          </a:p>
          <a:p>
            <a:pPr algn="l" marL="348754" indent="-174377" lvl="1">
              <a:lnSpc>
                <a:spcPts val="3750"/>
              </a:lnSpc>
              <a:buFont typeface="Arial"/>
              <a:buChar char="•"/>
            </a:pPr>
            <a:r>
              <a:rPr lang="en-US" sz="2312">
                <a:solidFill>
                  <a:srgbClr val="FFFFFF"/>
                </a:solidFill>
                <a:latin typeface="PT Sans"/>
                <a:ea typeface="PT Sans"/>
                <a:cs typeface="PT Sans"/>
                <a:sym typeface="PT Sans"/>
              </a:rPr>
              <a:t>Authentification sécurisée (Django), hachage des mots de passe, protection CSRF, XSS, SQL Injection.</a:t>
            </a:r>
          </a:p>
        </p:txBody>
      </p:sp>
      <p:sp>
        <p:nvSpPr>
          <p:cNvPr name="TextBox 9" id="9"/>
          <p:cNvSpPr txBox="true"/>
          <p:nvPr/>
        </p:nvSpPr>
        <p:spPr>
          <a:xfrm rot="0">
            <a:off x="9518447" y="3774729"/>
            <a:ext cx="4456509" cy="546945"/>
          </a:xfrm>
          <a:prstGeom prst="rect">
            <a:avLst/>
          </a:prstGeom>
        </p:spPr>
        <p:txBody>
          <a:bodyPr anchor="t" rtlCol="false" tIns="0" lIns="0" bIns="0" rIns="0">
            <a:spAutoFit/>
          </a:bodyPr>
          <a:lstStyle/>
          <a:p>
            <a:pPr algn="l">
              <a:lnSpc>
                <a:spcPts val="4125"/>
              </a:lnSpc>
            </a:pPr>
            <a:r>
              <a:rPr lang="en-US" sz="3312" b="true">
                <a:solidFill>
                  <a:srgbClr val="FFFFFF"/>
                </a:solidFill>
                <a:latin typeface="Nunito Bold"/>
                <a:ea typeface="Nunito Bold"/>
                <a:cs typeface="Nunito Bold"/>
                <a:sym typeface="Nunito Bold"/>
              </a:rPr>
              <a:t>Fiabilité &amp; Accessibilité</a:t>
            </a:r>
          </a:p>
        </p:txBody>
      </p:sp>
      <p:sp>
        <p:nvSpPr>
          <p:cNvPr name="TextBox 10" id="10"/>
          <p:cNvSpPr txBox="true"/>
          <p:nvPr/>
        </p:nvSpPr>
        <p:spPr>
          <a:xfrm rot="0">
            <a:off x="9518447" y="4525566"/>
            <a:ext cx="7731919" cy="2114998"/>
          </a:xfrm>
          <a:prstGeom prst="rect">
            <a:avLst/>
          </a:prstGeom>
        </p:spPr>
        <p:txBody>
          <a:bodyPr anchor="t" rtlCol="false" tIns="0" lIns="0" bIns="0" rIns="0">
            <a:spAutoFit/>
          </a:bodyPr>
          <a:lstStyle/>
          <a:p>
            <a:pPr algn="l" marL="348754" indent="-174377" lvl="1">
              <a:lnSpc>
                <a:spcPts val="3750"/>
              </a:lnSpc>
              <a:buFont typeface="Arial"/>
              <a:buChar char="•"/>
            </a:pPr>
            <a:r>
              <a:rPr lang="en-US" sz="2312">
                <a:solidFill>
                  <a:srgbClr val="FFFFFF"/>
                </a:solidFill>
                <a:latin typeface="PT Sans"/>
                <a:ea typeface="PT Sans"/>
                <a:cs typeface="PT Sans"/>
                <a:sym typeface="PT Sans"/>
              </a:rPr>
              <a:t>Validation des données côté serveur, gestion des erreurs sans interruption.</a:t>
            </a:r>
          </a:p>
          <a:p>
            <a:pPr algn="l" marL="348754" indent="-174377" lvl="1">
              <a:lnSpc>
                <a:spcPts val="3750"/>
              </a:lnSpc>
              <a:buFont typeface="Arial"/>
              <a:buChar char="•"/>
            </a:pPr>
            <a:r>
              <a:rPr lang="en-US" sz="2312">
                <a:solidFill>
                  <a:srgbClr val="FFFFFF"/>
                </a:solidFill>
                <a:latin typeface="PT Sans"/>
                <a:ea typeface="PT Sans"/>
                <a:cs typeface="PT Sans"/>
                <a:sym typeface="PT Sans"/>
              </a:rPr>
              <a:t>Interface responsive sur ordinateur, tablette et mobile, simple et intuitive.</a:t>
            </a:r>
          </a:p>
        </p:txBody>
      </p:sp>
      <p:sp>
        <p:nvSpPr>
          <p:cNvPr name="TextBox 11" id="11"/>
          <p:cNvSpPr txBox="true"/>
          <p:nvPr/>
        </p:nvSpPr>
        <p:spPr>
          <a:xfrm rot="0">
            <a:off x="1047159" y="7174859"/>
            <a:ext cx="4224338" cy="546945"/>
          </a:xfrm>
          <a:prstGeom prst="rect">
            <a:avLst/>
          </a:prstGeom>
        </p:spPr>
        <p:txBody>
          <a:bodyPr anchor="t" rtlCol="false" tIns="0" lIns="0" bIns="0" rIns="0">
            <a:spAutoFit/>
          </a:bodyPr>
          <a:lstStyle/>
          <a:p>
            <a:pPr algn="l">
              <a:lnSpc>
                <a:spcPts val="4125"/>
              </a:lnSpc>
            </a:pPr>
            <a:r>
              <a:rPr lang="en-US" sz="3312" b="true">
                <a:solidFill>
                  <a:srgbClr val="FFFFFF"/>
                </a:solidFill>
                <a:latin typeface="Nunito Bold"/>
                <a:ea typeface="Nunito Bold"/>
                <a:cs typeface="Nunito Bold"/>
                <a:sym typeface="Nunito Bold"/>
              </a:rPr>
              <a:t>Scalabilité</a:t>
            </a:r>
          </a:p>
        </p:txBody>
      </p:sp>
      <p:sp>
        <p:nvSpPr>
          <p:cNvPr name="TextBox 12" id="12"/>
          <p:cNvSpPr txBox="true"/>
          <p:nvPr/>
        </p:nvSpPr>
        <p:spPr>
          <a:xfrm rot="0">
            <a:off x="1047159" y="8075266"/>
            <a:ext cx="16193691" cy="574034"/>
          </a:xfrm>
          <a:prstGeom prst="rect">
            <a:avLst/>
          </a:prstGeom>
        </p:spPr>
        <p:txBody>
          <a:bodyPr anchor="t" rtlCol="false" tIns="0" lIns="0" bIns="0" rIns="0">
            <a:spAutoFit/>
          </a:bodyPr>
          <a:lstStyle/>
          <a:p>
            <a:pPr algn="l">
              <a:lnSpc>
                <a:spcPts val="3750"/>
              </a:lnSpc>
            </a:pPr>
            <a:r>
              <a:rPr lang="en-US" sz="2312">
                <a:solidFill>
                  <a:srgbClr val="FFFFFF"/>
                </a:solidFill>
                <a:latin typeface="PT Sans"/>
                <a:ea typeface="PT Sans"/>
                <a:cs typeface="PT Sans"/>
                <a:sym typeface="PT Sans"/>
              </a:rPr>
              <a:t>Architecture modulaire pour l'ajout facile de nouvelles fonctionnalités. Base de données évolutive (PostgreSQL ou MySQL).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0002E">
                <a:alpha val="56078"/>
              </a:srgbClr>
            </a:solidFill>
          </p:spPr>
        </p:sp>
      </p:grpSp>
      <p:sp>
        <p:nvSpPr>
          <p:cNvPr name="TextBox 6" id="6"/>
          <p:cNvSpPr txBox="true"/>
          <p:nvPr/>
        </p:nvSpPr>
        <p:spPr>
          <a:xfrm rot="0">
            <a:off x="1047159" y="1337815"/>
            <a:ext cx="6700095" cy="732682"/>
          </a:xfrm>
          <a:prstGeom prst="rect">
            <a:avLst/>
          </a:prstGeom>
        </p:spPr>
        <p:txBody>
          <a:bodyPr anchor="t" rtlCol="false" tIns="0" lIns="0" bIns="0" rIns="0">
            <a:spAutoFit/>
          </a:bodyPr>
          <a:lstStyle/>
          <a:p>
            <a:pPr algn="l">
              <a:lnSpc>
                <a:spcPts val="5500"/>
              </a:lnSpc>
            </a:pPr>
            <a:r>
              <a:rPr lang="en-US" sz="4375" b="true">
                <a:solidFill>
                  <a:srgbClr val="FFFFFF"/>
                </a:solidFill>
                <a:latin typeface="Nunito Bold"/>
                <a:ea typeface="Nunito Bold"/>
                <a:cs typeface="Nunito Bold"/>
                <a:sym typeface="Nunito Bold"/>
              </a:rPr>
              <a:t>Besoins Fonctionnels Clés</a:t>
            </a:r>
          </a:p>
        </p:txBody>
      </p:sp>
      <p:sp>
        <p:nvSpPr>
          <p:cNvPr name="TextBox 7" id="7"/>
          <p:cNvSpPr txBox="true"/>
          <p:nvPr/>
        </p:nvSpPr>
        <p:spPr>
          <a:xfrm rot="0">
            <a:off x="1047159" y="2583209"/>
            <a:ext cx="299142" cy="459734"/>
          </a:xfrm>
          <a:prstGeom prst="rect">
            <a:avLst/>
          </a:prstGeom>
        </p:spPr>
        <p:txBody>
          <a:bodyPr anchor="t" rtlCol="false" tIns="0" lIns="0" bIns="0" rIns="0">
            <a:spAutoFit/>
          </a:bodyPr>
          <a:lstStyle/>
          <a:p>
            <a:pPr algn="l">
              <a:lnSpc>
                <a:spcPts val="3750"/>
              </a:lnSpc>
            </a:pPr>
            <a:r>
              <a:rPr lang="en-US" sz="2312">
                <a:solidFill>
                  <a:srgbClr val="FFFFFF"/>
                </a:solidFill>
                <a:latin typeface="Nunito Light"/>
                <a:ea typeface="Nunito Light"/>
                <a:cs typeface="Nunito Light"/>
                <a:sym typeface="Nunito Light"/>
              </a:rPr>
              <a:t>01</a:t>
            </a:r>
          </a:p>
        </p:txBody>
      </p:sp>
      <p:grpSp>
        <p:nvGrpSpPr>
          <p:cNvPr name="Group 8" id="8"/>
          <p:cNvGrpSpPr/>
          <p:nvPr/>
        </p:nvGrpSpPr>
        <p:grpSpPr>
          <a:xfrm rot="0">
            <a:off x="1047159" y="3139383"/>
            <a:ext cx="7947269" cy="38100"/>
            <a:chOff x="0" y="0"/>
            <a:chExt cx="10596359" cy="50800"/>
          </a:xfrm>
        </p:grpSpPr>
        <p:sp>
          <p:nvSpPr>
            <p:cNvPr name="Freeform 9" id="9"/>
            <p:cNvSpPr/>
            <p:nvPr/>
          </p:nvSpPr>
          <p:spPr>
            <a:xfrm flipH="false" flipV="false" rot="0">
              <a:off x="0" y="0"/>
              <a:ext cx="10596372" cy="50800"/>
            </a:xfrm>
            <a:custGeom>
              <a:avLst/>
              <a:gdLst/>
              <a:ahLst/>
              <a:cxnLst/>
              <a:rect r="r" b="b" t="t" l="l"/>
              <a:pathLst>
                <a:path h="50800" w="10596372">
                  <a:moveTo>
                    <a:pt x="0" y="0"/>
                  </a:moveTo>
                  <a:lnTo>
                    <a:pt x="10596372" y="0"/>
                  </a:lnTo>
                  <a:lnTo>
                    <a:pt x="10596372" y="50800"/>
                  </a:lnTo>
                  <a:lnTo>
                    <a:pt x="0" y="50800"/>
                  </a:lnTo>
                  <a:close/>
                </a:path>
              </a:pathLst>
            </a:custGeom>
            <a:solidFill>
              <a:srgbClr val="F2B42D"/>
            </a:solidFill>
          </p:spPr>
        </p:sp>
      </p:grpSp>
      <p:sp>
        <p:nvSpPr>
          <p:cNvPr name="TextBox 10" id="10"/>
          <p:cNvSpPr txBox="true"/>
          <p:nvPr/>
        </p:nvSpPr>
        <p:spPr>
          <a:xfrm rot="0">
            <a:off x="1047159" y="3346104"/>
            <a:ext cx="4324798" cy="458991"/>
          </a:xfrm>
          <a:prstGeom prst="rect">
            <a:avLst/>
          </a:prstGeom>
        </p:spPr>
        <p:txBody>
          <a:bodyPr anchor="t" rtlCol="false" tIns="0" lIns="0" bIns="0" rIns="0">
            <a:spAutoFit/>
          </a:bodyPr>
          <a:lstStyle/>
          <a:p>
            <a:pPr algn="l">
              <a:lnSpc>
                <a:spcPts val="3437"/>
              </a:lnSpc>
            </a:pPr>
            <a:r>
              <a:rPr lang="en-US" sz="2750" b="true">
                <a:solidFill>
                  <a:srgbClr val="FFFFFF"/>
                </a:solidFill>
                <a:latin typeface="Nunito Bold"/>
                <a:ea typeface="Nunito Bold"/>
                <a:cs typeface="Nunito Bold"/>
                <a:sym typeface="Nunito Bold"/>
              </a:rPr>
              <a:t>Gestion des Accès et Rôles</a:t>
            </a:r>
          </a:p>
        </p:txBody>
      </p:sp>
      <p:sp>
        <p:nvSpPr>
          <p:cNvPr name="TextBox 11" id="11"/>
          <p:cNvSpPr txBox="true"/>
          <p:nvPr/>
        </p:nvSpPr>
        <p:spPr>
          <a:xfrm rot="0">
            <a:off x="1047159" y="3889324"/>
            <a:ext cx="7947269" cy="1531591"/>
          </a:xfrm>
          <a:prstGeom prst="rect">
            <a:avLst/>
          </a:prstGeom>
        </p:spPr>
        <p:txBody>
          <a:bodyPr anchor="t" rtlCol="false" tIns="0" lIns="0" bIns="0" rIns="0">
            <a:spAutoFit/>
          </a:bodyPr>
          <a:lstStyle/>
          <a:p>
            <a:pPr algn="l">
              <a:lnSpc>
                <a:spcPts val="3750"/>
              </a:lnSpc>
            </a:pPr>
            <a:r>
              <a:rPr lang="en-US" sz="2312">
                <a:solidFill>
                  <a:srgbClr val="FFFFFF"/>
                </a:solidFill>
                <a:latin typeface="PT Sans"/>
                <a:ea typeface="PT Sans"/>
                <a:cs typeface="PT Sans"/>
                <a:sym typeface="PT Sans"/>
              </a:rPr>
              <a:t>Page d'accueil publique (présentation, avis, localisations). Formulaire de connexion/inscription avec messages d'erreur clairs. Trois rôles distincts : Client, Coach, Administrateur.</a:t>
            </a:r>
          </a:p>
        </p:txBody>
      </p:sp>
      <p:sp>
        <p:nvSpPr>
          <p:cNvPr name="TextBox 12" id="12"/>
          <p:cNvSpPr txBox="true"/>
          <p:nvPr/>
        </p:nvSpPr>
        <p:spPr>
          <a:xfrm rot="0">
            <a:off x="9293571" y="2583209"/>
            <a:ext cx="299142" cy="459734"/>
          </a:xfrm>
          <a:prstGeom prst="rect">
            <a:avLst/>
          </a:prstGeom>
        </p:spPr>
        <p:txBody>
          <a:bodyPr anchor="t" rtlCol="false" tIns="0" lIns="0" bIns="0" rIns="0">
            <a:spAutoFit/>
          </a:bodyPr>
          <a:lstStyle/>
          <a:p>
            <a:pPr algn="l">
              <a:lnSpc>
                <a:spcPts val="3750"/>
              </a:lnSpc>
            </a:pPr>
            <a:r>
              <a:rPr lang="en-US" sz="2312">
                <a:solidFill>
                  <a:srgbClr val="FFFFFF"/>
                </a:solidFill>
                <a:latin typeface="Nunito Light"/>
                <a:ea typeface="Nunito Light"/>
                <a:cs typeface="Nunito Light"/>
                <a:sym typeface="Nunito Light"/>
              </a:rPr>
              <a:t>02</a:t>
            </a:r>
          </a:p>
        </p:txBody>
      </p:sp>
      <p:grpSp>
        <p:nvGrpSpPr>
          <p:cNvPr name="Group 13" id="13"/>
          <p:cNvGrpSpPr/>
          <p:nvPr/>
        </p:nvGrpSpPr>
        <p:grpSpPr>
          <a:xfrm rot="0">
            <a:off x="9293571" y="3139383"/>
            <a:ext cx="7947269" cy="38100"/>
            <a:chOff x="0" y="0"/>
            <a:chExt cx="10596359" cy="50800"/>
          </a:xfrm>
        </p:grpSpPr>
        <p:sp>
          <p:nvSpPr>
            <p:cNvPr name="Freeform 14" id="14"/>
            <p:cNvSpPr/>
            <p:nvPr/>
          </p:nvSpPr>
          <p:spPr>
            <a:xfrm flipH="false" flipV="false" rot="0">
              <a:off x="0" y="0"/>
              <a:ext cx="10596372" cy="50800"/>
            </a:xfrm>
            <a:custGeom>
              <a:avLst/>
              <a:gdLst/>
              <a:ahLst/>
              <a:cxnLst/>
              <a:rect r="r" b="b" t="t" l="l"/>
              <a:pathLst>
                <a:path h="50800" w="10596372">
                  <a:moveTo>
                    <a:pt x="0" y="0"/>
                  </a:moveTo>
                  <a:lnTo>
                    <a:pt x="10596372" y="0"/>
                  </a:lnTo>
                  <a:lnTo>
                    <a:pt x="10596372" y="50800"/>
                  </a:lnTo>
                  <a:lnTo>
                    <a:pt x="0" y="50800"/>
                  </a:lnTo>
                  <a:close/>
                </a:path>
              </a:pathLst>
            </a:custGeom>
            <a:solidFill>
              <a:srgbClr val="D7425E"/>
            </a:solidFill>
          </p:spPr>
        </p:sp>
      </p:grpSp>
      <p:sp>
        <p:nvSpPr>
          <p:cNvPr name="TextBox 15" id="15"/>
          <p:cNvSpPr txBox="true"/>
          <p:nvPr/>
        </p:nvSpPr>
        <p:spPr>
          <a:xfrm rot="0">
            <a:off x="9293571" y="3346104"/>
            <a:ext cx="4310358" cy="458991"/>
          </a:xfrm>
          <a:prstGeom prst="rect">
            <a:avLst/>
          </a:prstGeom>
        </p:spPr>
        <p:txBody>
          <a:bodyPr anchor="t" rtlCol="false" tIns="0" lIns="0" bIns="0" rIns="0">
            <a:spAutoFit/>
          </a:bodyPr>
          <a:lstStyle/>
          <a:p>
            <a:pPr algn="l">
              <a:lnSpc>
                <a:spcPts val="3437"/>
              </a:lnSpc>
            </a:pPr>
            <a:r>
              <a:rPr lang="en-US" sz="2750" b="true">
                <a:solidFill>
                  <a:srgbClr val="FFFFFF"/>
                </a:solidFill>
                <a:latin typeface="Nunito Bold"/>
                <a:ea typeface="Nunito Bold"/>
                <a:cs typeface="Nunito Bold"/>
                <a:sym typeface="Nunito Bold"/>
              </a:rPr>
              <a:t>Espace Client Personnalisé</a:t>
            </a:r>
          </a:p>
        </p:txBody>
      </p:sp>
      <p:sp>
        <p:nvSpPr>
          <p:cNvPr name="TextBox 16" id="16"/>
          <p:cNvSpPr txBox="true"/>
          <p:nvPr/>
        </p:nvSpPr>
        <p:spPr>
          <a:xfrm rot="0">
            <a:off x="9293571" y="3889324"/>
            <a:ext cx="7947269" cy="1531591"/>
          </a:xfrm>
          <a:prstGeom prst="rect">
            <a:avLst/>
          </a:prstGeom>
        </p:spPr>
        <p:txBody>
          <a:bodyPr anchor="t" rtlCol="false" tIns="0" lIns="0" bIns="0" rIns="0">
            <a:spAutoFit/>
          </a:bodyPr>
          <a:lstStyle/>
          <a:p>
            <a:pPr algn="l">
              <a:lnSpc>
                <a:spcPts val="3750"/>
              </a:lnSpc>
            </a:pPr>
            <a:r>
              <a:rPr lang="en-US" sz="2312">
                <a:solidFill>
                  <a:srgbClr val="FFFFFF"/>
                </a:solidFill>
                <a:latin typeface="PT Sans"/>
                <a:ea typeface="PT Sans"/>
                <a:cs typeface="PT Sans"/>
                <a:sym typeface="PT Sans"/>
              </a:rPr>
              <a:t>Accès après connexion aux offres d'abonnement, réservation de sessions en ligne, messagerie interne avec le coach. Menu dédié : Offers, Book a session, Introduction, Logout.</a:t>
            </a:r>
          </a:p>
        </p:txBody>
      </p:sp>
      <p:sp>
        <p:nvSpPr>
          <p:cNvPr name="TextBox 17" id="17"/>
          <p:cNvSpPr txBox="true"/>
          <p:nvPr/>
        </p:nvSpPr>
        <p:spPr>
          <a:xfrm rot="0">
            <a:off x="1047159" y="5858618"/>
            <a:ext cx="299142" cy="459734"/>
          </a:xfrm>
          <a:prstGeom prst="rect">
            <a:avLst/>
          </a:prstGeom>
        </p:spPr>
        <p:txBody>
          <a:bodyPr anchor="t" rtlCol="false" tIns="0" lIns="0" bIns="0" rIns="0">
            <a:spAutoFit/>
          </a:bodyPr>
          <a:lstStyle/>
          <a:p>
            <a:pPr algn="l">
              <a:lnSpc>
                <a:spcPts val="3750"/>
              </a:lnSpc>
            </a:pPr>
            <a:r>
              <a:rPr lang="en-US" sz="2312">
                <a:solidFill>
                  <a:srgbClr val="FFFFFF"/>
                </a:solidFill>
                <a:latin typeface="Nunito Light"/>
                <a:ea typeface="Nunito Light"/>
                <a:cs typeface="Nunito Light"/>
                <a:sym typeface="Nunito Light"/>
              </a:rPr>
              <a:t>03</a:t>
            </a:r>
          </a:p>
        </p:txBody>
      </p:sp>
      <p:grpSp>
        <p:nvGrpSpPr>
          <p:cNvPr name="Group 18" id="18"/>
          <p:cNvGrpSpPr/>
          <p:nvPr/>
        </p:nvGrpSpPr>
        <p:grpSpPr>
          <a:xfrm rot="0">
            <a:off x="1047159" y="6414792"/>
            <a:ext cx="7947269" cy="38100"/>
            <a:chOff x="0" y="0"/>
            <a:chExt cx="10596359" cy="50800"/>
          </a:xfrm>
        </p:grpSpPr>
        <p:sp>
          <p:nvSpPr>
            <p:cNvPr name="Freeform 19" id="19"/>
            <p:cNvSpPr/>
            <p:nvPr/>
          </p:nvSpPr>
          <p:spPr>
            <a:xfrm flipH="false" flipV="false" rot="0">
              <a:off x="0" y="0"/>
              <a:ext cx="10596372" cy="50800"/>
            </a:xfrm>
            <a:custGeom>
              <a:avLst/>
              <a:gdLst/>
              <a:ahLst/>
              <a:cxnLst/>
              <a:rect r="r" b="b" t="t" l="l"/>
              <a:pathLst>
                <a:path h="50800" w="10596372">
                  <a:moveTo>
                    <a:pt x="0" y="0"/>
                  </a:moveTo>
                  <a:lnTo>
                    <a:pt x="10596372" y="0"/>
                  </a:lnTo>
                  <a:lnTo>
                    <a:pt x="10596372" y="50800"/>
                  </a:lnTo>
                  <a:lnTo>
                    <a:pt x="0" y="50800"/>
                  </a:lnTo>
                  <a:close/>
                </a:path>
              </a:pathLst>
            </a:custGeom>
            <a:solidFill>
              <a:srgbClr val="DD785E"/>
            </a:solidFill>
          </p:spPr>
        </p:sp>
      </p:grpSp>
      <p:sp>
        <p:nvSpPr>
          <p:cNvPr name="TextBox 20" id="20"/>
          <p:cNvSpPr txBox="true"/>
          <p:nvPr/>
        </p:nvSpPr>
        <p:spPr>
          <a:xfrm rot="0">
            <a:off x="1047159" y="6621513"/>
            <a:ext cx="3520230" cy="458991"/>
          </a:xfrm>
          <a:prstGeom prst="rect">
            <a:avLst/>
          </a:prstGeom>
        </p:spPr>
        <p:txBody>
          <a:bodyPr anchor="t" rtlCol="false" tIns="0" lIns="0" bIns="0" rIns="0">
            <a:spAutoFit/>
          </a:bodyPr>
          <a:lstStyle/>
          <a:p>
            <a:pPr algn="l">
              <a:lnSpc>
                <a:spcPts val="3437"/>
              </a:lnSpc>
            </a:pPr>
            <a:r>
              <a:rPr lang="en-US" sz="2750" b="true">
                <a:solidFill>
                  <a:srgbClr val="FFFFFF"/>
                </a:solidFill>
                <a:latin typeface="Nunito Bold"/>
                <a:ea typeface="Nunito Bold"/>
                <a:cs typeface="Nunito Bold"/>
                <a:sym typeface="Nunito Bold"/>
              </a:rPr>
              <a:t>Espace Coach Dévoué</a:t>
            </a:r>
          </a:p>
        </p:txBody>
      </p:sp>
      <p:sp>
        <p:nvSpPr>
          <p:cNvPr name="TextBox 21" id="21"/>
          <p:cNvSpPr txBox="true"/>
          <p:nvPr/>
        </p:nvSpPr>
        <p:spPr>
          <a:xfrm rot="0">
            <a:off x="1047159" y="7164734"/>
            <a:ext cx="7947269" cy="1531591"/>
          </a:xfrm>
          <a:prstGeom prst="rect">
            <a:avLst/>
          </a:prstGeom>
        </p:spPr>
        <p:txBody>
          <a:bodyPr anchor="t" rtlCol="false" tIns="0" lIns="0" bIns="0" rIns="0">
            <a:spAutoFit/>
          </a:bodyPr>
          <a:lstStyle/>
          <a:p>
            <a:pPr algn="l">
              <a:lnSpc>
                <a:spcPts val="3750"/>
              </a:lnSpc>
            </a:pPr>
            <a:r>
              <a:rPr lang="en-US" sz="2312">
                <a:solidFill>
                  <a:srgbClr val="FFFFFF"/>
                </a:solidFill>
                <a:latin typeface="PT Sans"/>
                <a:ea typeface="PT Sans"/>
                <a:cs typeface="PT Sans"/>
                <a:sym typeface="PT Sans"/>
              </a:rPr>
              <a:t>Dashboard clients, assignation/suppression de clients, messagerie interne. Menu dédié : Dashboard, Clients, Messages, Introduction, Logout. Page de messagerie complète.</a:t>
            </a:r>
          </a:p>
        </p:txBody>
      </p:sp>
      <p:sp>
        <p:nvSpPr>
          <p:cNvPr name="TextBox 22" id="22"/>
          <p:cNvSpPr txBox="true"/>
          <p:nvPr/>
        </p:nvSpPr>
        <p:spPr>
          <a:xfrm rot="0">
            <a:off x="9293571" y="5858618"/>
            <a:ext cx="299142" cy="459734"/>
          </a:xfrm>
          <a:prstGeom prst="rect">
            <a:avLst/>
          </a:prstGeom>
        </p:spPr>
        <p:txBody>
          <a:bodyPr anchor="t" rtlCol="false" tIns="0" lIns="0" bIns="0" rIns="0">
            <a:spAutoFit/>
          </a:bodyPr>
          <a:lstStyle/>
          <a:p>
            <a:pPr algn="l">
              <a:lnSpc>
                <a:spcPts val="3750"/>
              </a:lnSpc>
            </a:pPr>
            <a:r>
              <a:rPr lang="en-US" sz="2312">
                <a:solidFill>
                  <a:srgbClr val="FFFFFF"/>
                </a:solidFill>
                <a:latin typeface="Nunito Light"/>
                <a:ea typeface="Nunito Light"/>
                <a:cs typeface="Nunito Light"/>
                <a:sym typeface="Nunito Light"/>
              </a:rPr>
              <a:t>04</a:t>
            </a:r>
          </a:p>
        </p:txBody>
      </p:sp>
      <p:grpSp>
        <p:nvGrpSpPr>
          <p:cNvPr name="Group 23" id="23"/>
          <p:cNvGrpSpPr/>
          <p:nvPr/>
        </p:nvGrpSpPr>
        <p:grpSpPr>
          <a:xfrm rot="0">
            <a:off x="9293571" y="6414792"/>
            <a:ext cx="7947269" cy="38100"/>
            <a:chOff x="0" y="0"/>
            <a:chExt cx="10596359" cy="50800"/>
          </a:xfrm>
        </p:grpSpPr>
        <p:sp>
          <p:nvSpPr>
            <p:cNvPr name="Freeform 24" id="24"/>
            <p:cNvSpPr/>
            <p:nvPr/>
          </p:nvSpPr>
          <p:spPr>
            <a:xfrm flipH="false" flipV="false" rot="0">
              <a:off x="0" y="0"/>
              <a:ext cx="10596372" cy="50800"/>
            </a:xfrm>
            <a:custGeom>
              <a:avLst/>
              <a:gdLst/>
              <a:ahLst/>
              <a:cxnLst/>
              <a:rect r="r" b="b" t="t" l="l"/>
              <a:pathLst>
                <a:path h="50800" w="10596372">
                  <a:moveTo>
                    <a:pt x="0" y="0"/>
                  </a:moveTo>
                  <a:lnTo>
                    <a:pt x="10596372" y="0"/>
                  </a:lnTo>
                  <a:lnTo>
                    <a:pt x="10596372" y="50800"/>
                  </a:lnTo>
                  <a:lnTo>
                    <a:pt x="0" y="50800"/>
                  </a:lnTo>
                  <a:close/>
                </a:path>
              </a:pathLst>
            </a:custGeom>
            <a:solidFill>
              <a:srgbClr val="48A8E2"/>
            </a:solidFill>
          </p:spPr>
        </p:sp>
      </p:grpSp>
      <p:sp>
        <p:nvSpPr>
          <p:cNvPr name="TextBox 25" id="25"/>
          <p:cNvSpPr txBox="true"/>
          <p:nvPr/>
        </p:nvSpPr>
        <p:spPr>
          <a:xfrm rot="0">
            <a:off x="9293571" y="6621513"/>
            <a:ext cx="5073406" cy="458991"/>
          </a:xfrm>
          <a:prstGeom prst="rect">
            <a:avLst/>
          </a:prstGeom>
        </p:spPr>
        <p:txBody>
          <a:bodyPr anchor="t" rtlCol="false" tIns="0" lIns="0" bIns="0" rIns="0">
            <a:spAutoFit/>
          </a:bodyPr>
          <a:lstStyle/>
          <a:p>
            <a:pPr algn="l">
              <a:lnSpc>
                <a:spcPts val="3437"/>
              </a:lnSpc>
            </a:pPr>
            <a:r>
              <a:rPr lang="en-US" sz="2750" b="true">
                <a:solidFill>
                  <a:srgbClr val="FFFFFF"/>
                </a:solidFill>
                <a:latin typeface="Nunito Bold"/>
                <a:ea typeface="Nunito Bold"/>
                <a:cs typeface="Nunito Bold"/>
                <a:sym typeface="Nunito Bold"/>
              </a:rPr>
              <a:t>Espace Administrateur Complet</a:t>
            </a:r>
          </a:p>
        </p:txBody>
      </p:sp>
      <p:sp>
        <p:nvSpPr>
          <p:cNvPr name="TextBox 26" id="26"/>
          <p:cNvSpPr txBox="true"/>
          <p:nvPr/>
        </p:nvSpPr>
        <p:spPr>
          <a:xfrm rot="0">
            <a:off x="9293571" y="7164734"/>
            <a:ext cx="7947269" cy="1531591"/>
          </a:xfrm>
          <a:prstGeom prst="rect">
            <a:avLst/>
          </a:prstGeom>
        </p:spPr>
        <p:txBody>
          <a:bodyPr anchor="t" rtlCol="false" tIns="0" lIns="0" bIns="0" rIns="0">
            <a:spAutoFit/>
          </a:bodyPr>
          <a:lstStyle/>
          <a:p>
            <a:pPr algn="l">
              <a:lnSpc>
                <a:spcPts val="3750"/>
              </a:lnSpc>
            </a:pPr>
            <a:r>
              <a:rPr lang="en-US" sz="2312">
                <a:solidFill>
                  <a:srgbClr val="FFFFFF"/>
                </a:solidFill>
                <a:latin typeface="PT Sans"/>
                <a:ea typeface="PT Sans"/>
                <a:cs typeface="PT Sans"/>
                <a:sym typeface="PT Sans"/>
              </a:rPr>
              <a:t>Gestion des utilisateurs, des offres, des sessions. Supervision modérée des messages. Statistiques globales (inscriptions, revenus).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0002E">
                <a:alpha val="56078"/>
              </a:srgbClr>
            </a:solidFill>
          </p:spPr>
        </p:sp>
      </p:grpSp>
      <p:sp>
        <p:nvSpPr>
          <p:cNvPr name="TextBox 6" id="6"/>
          <p:cNvSpPr txBox="true"/>
          <p:nvPr/>
        </p:nvSpPr>
        <p:spPr>
          <a:xfrm rot="0">
            <a:off x="1047159" y="2329758"/>
            <a:ext cx="11565284" cy="732682"/>
          </a:xfrm>
          <a:prstGeom prst="rect">
            <a:avLst/>
          </a:prstGeom>
        </p:spPr>
        <p:txBody>
          <a:bodyPr anchor="t" rtlCol="false" tIns="0" lIns="0" bIns="0" rIns="0">
            <a:spAutoFit/>
          </a:bodyPr>
          <a:lstStyle/>
          <a:p>
            <a:pPr algn="l">
              <a:lnSpc>
                <a:spcPts val="5500"/>
              </a:lnSpc>
            </a:pPr>
            <a:r>
              <a:rPr lang="en-US" sz="4375" b="true">
                <a:solidFill>
                  <a:srgbClr val="FFFFFF"/>
                </a:solidFill>
                <a:latin typeface="Nunito Bold"/>
                <a:ea typeface="Nunito Bold"/>
                <a:cs typeface="Nunito Bold"/>
                <a:sym typeface="Nunito Bold"/>
              </a:rPr>
              <a:t>Fonctionnalités Essentielles pour l'Utilisateur</a:t>
            </a:r>
          </a:p>
        </p:txBody>
      </p:sp>
      <p:sp>
        <p:nvSpPr>
          <p:cNvPr name="TextBox 7" id="7"/>
          <p:cNvSpPr txBox="true"/>
          <p:nvPr/>
        </p:nvSpPr>
        <p:spPr>
          <a:xfrm rot="0">
            <a:off x="1047159" y="3791245"/>
            <a:ext cx="7706763" cy="546945"/>
          </a:xfrm>
          <a:prstGeom prst="rect">
            <a:avLst/>
          </a:prstGeom>
        </p:spPr>
        <p:txBody>
          <a:bodyPr anchor="t" rtlCol="false" tIns="0" lIns="0" bIns="0" rIns="0">
            <a:spAutoFit/>
          </a:bodyPr>
          <a:lstStyle/>
          <a:p>
            <a:pPr algn="l">
              <a:lnSpc>
                <a:spcPts val="4125"/>
              </a:lnSpc>
            </a:pPr>
            <a:r>
              <a:rPr lang="en-US" sz="3312" b="true">
                <a:solidFill>
                  <a:srgbClr val="FFFFFF"/>
                </a:solidFill>
                <a:latin typeface="Nunito Bold"/>
                <a:ea typeface="Nunito Bold"/>
                <a:cs typeface="Nunito Bold"/>
                <a:sym typeface="Nunito Bold"/>
              </a:rPr>
              <a:t>Gestion des Abonnements et Paiements</a:t>
            </a:r>
          </a:p>
        </p:txBody>
      </p:sp>
      <p:sp>
        <p:nvSpPr>
          <p:cNvPr name="TextBox 8" id="8"/>
          <p:cNvSpPr txBox="true"/>
          <p:nvPr/>
        </p:nvSpPr>
        <p:spPr>
          <a:xfrm rot="0">
            <a:off x="1047159" y="4542082"/>
            <a:ext cx="7731919" cy="2803027"/>
          </a:xfrm>
          <a:prstGeom prst="rect">
            <a:avLst/>
          </a:prstGeom>
        </p:spPr>
        <p:txBody>
          <a:bodyPr anchor="t" rtlCol="false" tIns="0" lIns="0" bIns="0" rIns="0">
            <a:spAutoFit/>
          </a:bodyPr>
          <a:lstStyle/>
          <a:p>
            <a:pPr algn="l" marL="348754" indent="-174377" lvl="1">
              <a:lnSpc>
                <a:spcPts val="3750"/>
              </a:lnSpc>
              <a:buFont typeface="Arial"/>
              <a:buChar char="•"/>
            </a:pPr>
            <a:r>
              <a:rPr lang="en-US" sz="2312">
                <a:solidFill>
                  <a:srgbClr val="FFFFFF"/>
                </a:solidFill>
                <a:latin typeface="PT Sans"/>
                <a:ea typeface="PT Sans"/>
                <a:cs typeface="PT Sans"/>
                <a:sym typeface="PT Sans"/>
              </a:rPr>
              <a:t>Affichage clair des offres avec prix compétitifs.</a:t>
            </a:r>
          </a:p>
          <a:p>
            <a:pPr algn="l" marL="348754" indent="-174377" lvl="1">
              <a:lnSpc>
                <a:spcPts val="3750"/>
              </a:lnSpc>
              <a:buFont typeface="Arial"/>
              <a:buChar char="•"/>
            </a:pPr>
            <a:r>
              <a:rPr lang="en-US" sz="2312">
                <a:solidFill>
                  <a:srgbClr val="FFFFFF"/>
                </a:solidFill>
                <a:latin typeface="PT Sans"/>
                <a:ea typeface="PT Sans"/>
                <a:cs typeface="PT Sans"/>
                <a:sym typeface="PT Sans"/>
              </a:rPr>
              <a:t>Bouton "Purchase" pour souscrire un abonnement.</a:t>
            </a:r>
          </a:p>
          <a:p>
            <a:pPr algn="l" marL="348754" indent="-174377" lvl="1">
              <a:lnSpc>
                <a:spcPts val="3750"/>
              </a:lnSpc>
              <a:buFont typeface="Arial"/>
              <a:buChar char="•"/>
            </a:pPr>
            <a:r>
              <a:rPr lang="en-US" sz="2312">
                <a:solidFill>
                  <a:srgbClr val="FFFFFF"/>
                </a:solidFill>
                <a:latin typeface="PT Sans"/>
                <a:ea typeface="PT Sans"/>
                <a:cs typeface="PT Sans"/>
                <a:sym typeface="PT Sans"/>
              </a:rPr>
              <a:t>Paiement sécurisé via Stripe ou PayPal.</a:t>
            </a:r>
          </a:p>
          <a:p>
            <a:pPr algn="l" marL="348754" indent="-174377" lvl="1">
              <a:lnSpc>
                <a:spcPts val="3750"/>
              </a:lnSpc>
              <a:buFont typeface="Arial"/>
              <a:buChar char="•"/>
            </a:pPr>
            <a:r>
              <a:rPr lang="en-US" sz="2312">
                <a:solidFill>
                  <a:srgbClr val="FFFFFF"/>
                </a:solidFill>
                <a:latin typeface="PT Sans"/>
                <a:ea typeface="PT Sans"/>
                <a:cs typeface="PT Sans"/>
                <a:sym typeface="PT Sans"/>
              </a:rPr>
              <a:t>Confirmation d'achat et mise à jour automatique du statut client.</a:t>
            </a:r>
          </a:p>
        </p:txBody>
      </p:sp>
      <p:sp>
        <p:nvSpPr>
          <p:cNvPr name="TextBox 9" id="9"/>
          <p:cNvSpPr txBox="true"/>
          <p:nvPr/>
        </p:nvSpPr>
        <p:spPr>
          <a:xfrm rot="0">
            <a:off x="9518447" y="3791245"/>
            <a:ext cx="6707829" cy="546945"/>
          </a:xfrm>
          <a:prstGeom prst="rect">
            <a:avLst/>
          </a:prstGeom>
        </p:spPr>
        <p:txBody>
          <a:bodyPr anchor="t" rtlCol="false" tIns="0" lIns="0" bIns="0" rIns="0">
            <a:spAutoFit/>
          </a:bodyPr>
          <a:lstStyle/>
          <a:p>
            <a:pPr algn="l">
              <a:lnSpc>
                <a:spcPts val="4125"/>
              </a:lnSpc>
            </a:pPr>
            <a:r>
              <a:rPr lang="en-US" sz="3312" b="true">
                <a:solidFill>
                  <a:srgbClr val="FFFFFF"/>
                </a:solidFill>
                <a:latin typeface="Nunito Bold"/>
                <a:ea typeface="Nunito Bold"/>
                <a:cs typeface="Nunito Bold"/>
                <a:sym typeface="Nunito Bold"/>
              </a:rPr>
              <a:t>Réservation de Sessions Simplifiée</a:t>
            </a:r>
          </a:p>
        </p:txBody>
      </p:sp>
      <p:sp>
        <p:nvSpPr>
          <p:cNvPr name="TextBox 10" id="10"/>
          <p:cNvSpPr txBox="true"/>
          <p:nvPr/>
        </p:nvSpPr>
        <p:spPr>
          <a:xfrm rot="0">
            <a:off x="9518447" y="4542082"/>
            <a:ext cx="7731919" cy="3281810"/>
          </a:xfrm>
          <a:prstGeom prst="rect">
            <a:avLst/>
          </a:prstGeom>
        </p:spPr>
        <p:txBody>
          <a:bodyPr anchor="t" rtlCol="false" tIns="0" lIns="0" bIns="0" rIns="0">
            <a:spAutoFit/>
          </a:bodyPr>
          <a:lstStyle/>
          <a:p>
            <a:pPr algn="l" marL="348754" indent="-174377" lvl="1">
              <a:lnSpc>
                <a:spcPts val="3750"/>
              </a:lnSpc>
              <a:buFont typeface="Arial"/>
              <a:buChar char="•"/>
            </a:pPr>
            <a:r>
              <a:rPr lang="en-US" sz="2312">
                <a:solidFill>
                  <a:srgbClr val="FFFFFF"/>
                </a:solidFill>
                <a:latin typeface="PT Sans"/>
                <a:ea typeface="PT Sans"/>
                <a:cs typeface="PT Sans"/>
                <a:sym typeface="PT Sans"/>
              </a:rPr>
              <a:t>Interface de réservation intuitive avec créneaux disponibles.</a:t>
            </a:r>
          </a:p>
          <a:p>
            <a:pPr algn="l" marL="348754" indent="-174377" lvl="1">
              <a:lnSpc>
                <a:spcPts val="3750"/>
              </a:lnSpc>
              <a:buFont typeface="Arial"/>
              <a:buChar char="•"/>
            </a:pPr>
            <a:r>
              <a:rPr lang="en-US" sz="2312">
                <a:solidFill>
                  <a:srgbClr val="FFFFFF"/>
                </a:solidFill>
                <a:latin typeface="PT Sans"/>
                <a:ea typeface="PT Sans"/>
                <a:cs typeface="PT Sans"/>
                <a:sym typeface="PT Sans"/>
              </a:rPr>
              <a:t>Bouton "Book" pour chaque créneau horaire.</a:t>
            </a:r>
          </a:p>
          <a:p>
            <a:pPr algn="l" marL="348754" indent="-174377" lvl="1">
              <a:lnSpc>
                <a:spcPts val="3750"/>
              </a:lnSpc>
              <a:buFont typeface="Arial"/>
              <a:buChar char="•"/>
            </a:pPr>
            <a:r>
              <a:rPr lang="en-US" sz="2312">
                <a:solidFill>
                  <a:srgbClr val="FFFFFF"/>
                </a:solidFill>
                <a:latin typeface="PT Sans"/>
                <a:ea typeface="PT Sans"/>
                <a:cs typeface="PT Sans"/>
                <a:sym typeface="PT Sans"/>
              </a:rPr>
              <a:t>Historique des sessions passées et à venir.</a:t>
            </a:r>
          </a:p>
          <a:p>
            <a:pPr algn="l" marL="348754" indent="-174377" lvl="1">
              <a:lnSpc>
                <a:spcPts val="3750"/>
              </a:lnSpc>
              <a:buFont typeface="Arial"/>
              <a:buChar char="•"/>
            </a:pPr>
            <a:r>
              <a:rPr lang="en-US" sz="2312">
                <a:solidFill>
                  <a:srgbClr val="FFFFFF"/>
                </a:solidFill>
                <a:latin typeface="PT Sans"/>
                <a:ea typeface="PT Sans"/>
                <a:cs typeface="PT Sans"/>
                <a:sym typeface="PT Sans"/>
              </a:rPr>
              <a:t>Notifications de confirmation par email ou via l'application.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0002E">
                <a:alpha val="56078"/>
              </a:srgbClr>
            </a:solidFill>
          </p:spPr>
        </p:sp>
      </p:grpSp>
      <p:sp>
        <p:nvSpPr>
          <p:cNvPr name="TextBox 6" id="6"/>
          <p:cNvSpPr txBox="true"/>
          <p:nvPr/>
        </p:nvSpPr>
        <p:spPr>
          <a:xfrm rot="0">
            <a:off x="1047159" y="2329758"/>
            <a:ext cx="10354418" cy="732682"/>
          </a:xfrm>
          <a:prstGeom prst="rect">
            <a:avLst/>
          </a:prstGeom>
        </p:spPr>
        <p:txBody>
          <a:bodyPr anchor="t" rtlCol="false" tIns="0" lIns="0" bIns="0" rIns="0">
            <a:spAutoFit/>
          </a:bodyPr>
          <a:lstStyle/>
          <a:p>
            <a:pPr algn="l">
              <a:lnSpc>
                <a:spcPts val="5500"/>
              </a:lnSpc>
            </a:pPr>
            <a:r>
              <a:rPr lang="en-US" sz="4375" b="true">
                <a:solidFill>
                  <a:srgbClr val="FFFFFF"/>
                </a:solidFill>
                <a:latin typeface="Nunito Bold"/>
                <a:ea typeface="Nunito Bold"/>
                <a:cs typeface="Nunito Bold"/>
                <a:sym typeface="Nunito Bold"/>
              </a:rPr>
              <a:t>Communication et Navigation Fluidifiées</a:t>
            </a:r>
          </a:p>
        </p:txBody>
      </p:sp>
      <p:sp>
        <p:nvSpPr>
          <p:cNvPr name="TextBox 7" id="7"/>
          <p:cNvSpPr txBox="true"/>
          <p:nvPr/>
        </p:nvSpPr>
        <p:spPr>
          <a:xfrm rot="0">
            <a:off x="1047159" y="3791245"/>
            <a:ext cx="5371357" cy="546945"/>
          </a:xfrm>
          <a:prstGeom prst="rect">
            <a:avLst/>
          </a:prstGeom>
        </p:spPr>
        <p:txBody>
          <a:bodyPr anchor="t" rtlCol="false" tIns="0" lIns="0" bIns="0" rIns="0">
            <a:spAutoFit/>
          </a:bodyPr>
          <a:lstStyle/>
          <a:p>
            <a:pPr algn="l">
              <a:lnSpc>
                <a:spcPts val="4125"/>
              </a:lnSpc>
            </a:pPr>
            <a:r>
              <a:rPr lang="en-US" sz="3312" b="true">
                <a:solidFill>
                  <a:srgbClr val="FFFFFF"/>
                </a:solidFill>
                <a:latin typeface="Nunito Bold"/>
                <a:ea typeface="Nunito Bold"/>
                <a:cs typeface="Nunito Bold"/>
                <a:sym typeface="Nunito Bold"/>
              </a:rPr>
              <a:t>Messagerie Interne Intégrée</a:t>
            </a:r>
          </a:p>
        </p:txBody>
      </p:sp>
      <p:sp>
        <p:nvSpPr>
          <p:cNvPr name="TextBox 8" id="8"/>
          <p:cNvSpPr txBox="true"/>
          <p:nvPr/>
        </p:nvSpPr>
        <p:spPr>
          <a:xfrm rot="0">
            <a:off x="1047159" y="4542082"/>
            <a:ext cx="7731919" cy="3281810"/>
          </a:xfrm>
          <a:prstGeom prst="rect">
            <a:avLst/>
          </a:prstGeom>
        </p:spPr>
        <p:txBody>
          <a:bodyPr anchor="t" rtlCol="false" tIns="0" lIns="0" bIns="0" rIns="0">
            <a:spAutoFit/>
          </a:bodyPr>
          <a:lstStyle/>
          <a:p>
            <a:pPr algn="l" marL="348754" indent="-174377" lvl="1">
              <a:lnSpc>
                <a:spcPts val="3750"/>
              </a:lnSpc>
              <a:buFont typeface="Arial"/>
              <a:buChar char="•"/>
            </a:pPr>
            <a:r>
              <a:rPr lang="en-US" sz="2312">
                <a:solidFill>
                  <a:srgbClr val="FFFFFF"/>
                </a:solidFill>
                <a:latin typeface="PT Sans"/>
                <a:ea typeface="PT Sans"/>
                <a:cs typeface="PT Sans"/>
                <a:sym typeface="PT Sans"/>
              </a:rPr>
              <a:t>Messagerie directe entre client et coach.</a:t>
            </a:r>
          </a:p>
          <a:p>
            <a:pPr algn="l" marL="348754" indent="-174377" lvl="1">
              <a:lnSpc>
                <a:spcPts val="3750"/>
              </a:lnSpc>
              <a:buFont typeface="Arial"/>
              <a:buChar char="•"/>
            </a:pPr>
            <a:r>
              <a:rPr lang="en-US" sz="2312">
                <a:solidFill>
                  <a:srgbClr val="FFFFFF"/>
                </a:solidFill>
                <a:latin typeface="PT Sans"/>
                <a:ea typeface="PT Sans"/>
                <a:cs typeface="PT Sans"/>
                <a:sym typeface="PT Sans"/>
              </a:rPr>
              <a:t>Liste des conversations et historique des messages.</a:t>
            </a:r>
          </a:p>
          <a:p>
            <a:pPr algn="l" marL="348754" indent="-174377" lvl="1">
              <a:lnSpc>
                <a:spcPts val="3750"/>
              </a:lnSpc>
              <a:buFont typeface="Arial"/>
              <a:buChar char="•"/>
            </a:pPr>
            <a:r>
              <a:rPr lang="en-US" sz="2312">
                <a:solidFill>
                  <a:srgbClr val="FFFFFF"/>
                </a:solidFill>
                <a:latin typeface="PT Sans"/>
                <a:ea typeface="PT Sans"/>
                <a:cs typeface="PT Sans"/>
                <a:sym typeface="PT Sans"/>
              </a:rPr>
              <a:t>Zone de texte et bouton "Send" pour une interaction facile.</a:t>
            </a:r>
          </a:p>
          <a:p>
            <a:pPr algn="l" marL="348754" indent="-174377" lvl="1">
              <a:lnSpc>
                <a:spcPts val="3750"/>
              </a:lnSpc>
              <a:buFont typeface="Arial"/>
              <a:buChar char="•"/>
            </a:pPr>
            <a:r>
              <a:rPr lang="en-US" sz="2312">
                <a:solidFill>
                  <a:srgbClr val="FFFFFF"/>
                </a:solidFill>
                <a:latin typeface="PT Sans"/>
                <a:ea typeface="PT Sans"/>
                <a:cs typeface="PT Sans"/>
                <a:sym typeface="PT Sans"/>
              </a:rPr>
              <a:t>Notifications en temps réel pour les nouveaux messages.</a:t>
            </a:r>
          </a:p>
        </p:txBody>
      </p:sp>
      <p:sp>
        <p:nvSpPr>
          <p:cNvPr name="TextBox 9" id="9"/>
          <p:cNvSpPr txBox="true"/>
          <p:nvPr/>
        </p:nvSpPr>
        <p:spPr>
          <a:xfrm rot="0">
            <a:off x="9518447" y="3791245"/>
            <a:ext cx="7458818" cy="546945"/>
          </a:xfrm>
          <a:prstGeom prst="rect">
            <a:avLst/>
          </a:prstGeom>
        </p:spPr>
        <p:txBody>
          <a:bodyPr anchor="t" rtlCol="false" tIns="0" lIns="0" bIns="0" rIns="0">
            <a:spAutoFit/>
          </a:bodyPr>
          <a:lstStyle/>
          <a:p>
            <a:pPr algn="l">
              <a:lnSpc>
                <a:spcPts val="4125"/>
              </a:lnSpc>
            </a:pPr>
            <a:r>
              <a:rPr lang="en-US" sz="3312" b="true">
                <a:solidFill>
                  <a:srgbClr val="FFFFFF"/>
                </a:solidFill>
                <a:latin typeface="Nunito Bold"/>
                <a:ea typeface="Nunito Bold"/>
                <a:cs typeface="Nunito Bold"/>
                <a:sym typeface="Nunito Bold"/>
              </a:rPr>
              <a:t>Pages Statiques et Navigation Intuitive</a:t>
            </a:r>
          </a:p>
        </p:txBody>
      </p:sp>
      <p:sp>
        <p:nvSpPr>
          <p:cNvPr name="TextBox 10" id="10"/>
          <p:cNvSpPr txBox="true"/>
          <p:nvPr/>
        </p:nvSpPr>
        <p:spPr>
          <a:xfrm rot="0">
            <a:off x="9518447" y="4542082"/>
            <a:ext cx="7731919" cy="2698404"/>
          </a:xfrm>
          <a:prstGeom prst="rect">
            <a:avLst/>
          </a:prstGeom>
        </p:spPr>
        <p:txBody>
          <a:bodyPr anchor="t" rtlCol="false" tIns="0" lIns="0" bIns="0" rIns="0">
            <a:spAutoFit/>
          </a:bodyPr>
          <a:lstStyle/>
          <a:p>
            <a:pPr algn="l" marL="348754" indent="-174377" lvl="1">
              <a:lnSpc>
                <a:spcPts val="3750"/>
              </a:lnSpc>
              <a:buFont typeface="Arial"/>
              <a:buChar char="•"/>
            </a:pPr>
            <a:r>
              <a:rPr lang="en-US" sz="2312">
                <a:solidFill>
                  <a:srgbClr val="FFFFFF"/>
                </a:solidFill>
                <a:latin typeface="PT Sans"/>
                <a:ea typeface="PT Sans"/>
                <a:cs typeface="PT Sans"/>
                <a:sym typeface="PT Sans"/>
              </a:rPr>
              <a:t>Menus cohérents et adaptés à chaque rôle d'utilisateur.</a:t>
            </a:r>
          </a:p>
          <a:p>
            <a:pPr algn="l" marL="348754" indent="-174377" lvl="1">
              <a:lnSpc>
                <a:spcPts val="3750"/>
              </a:lnSpc>
              <a:buFont typeface="Arial"/>
              <a:buChar char="•"/>
            </a:pPr>
            <a:r>
              <a:rPr lang="en-US" sz="2312">
                <a:solidFill>
                  <a:srgbClr val="FFFFFF"/>
                </a:solidFill>
                <a:latin typeface="PT Sans"/>
                <a:ea typeface="PT Sans"/>
                <a:cs typeface="PT Sans"/>
                <a:sym typeface="PT Sans"/>
              </a:rPr>
              <a:t>Accès à une "Introduction générale" de la plateforme pour tous.</a:t>
            </a:r>
          </a:p>
          <a:p>
            <a:pPr algn="l" marL="348754" indent="-174377" lvl="1">
              <a:lnSpc>
                <a:spcPts val="3750"/>
              </a:lnSpc>
              <a:buFont typeface="Arial"/>
              <a:buChar char="•"/>
            </a:pPr>
            <a:r>
              <a:rPr lang="en-US" sz="2312">
                <a:solidFill>
                  <a:srgbClr val="FFFFFF"/>
                </a:solidFill>
                <a:latin typeface="PT Sans"/>
                <a:ea typeface="PT Sans"/>
                <a:cs typeface="PT Sans"/>
                <a:sym typeface="PT Sans"/>
              </a:rPr>
              <a:t>Design épuré et fluide pour une expérience utilisateur optimale.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0002E">
                <a:alpha val="56078"/>
              </a:srgbClr>
            </a:solidFill>
          </p:spPr>
        </p:sp>
      </p:grpSp>
      <p:sp>
        <p:nvSpPr>
          <p:cNvPr name="TextBox 6" id="6"/>
          <p:cNvSpPr txBox="true"/>
          <p:nvPr/>
        </p:nvSpPr>
        <p:spPr>
          <a:xfrm rot="0">
            <a:off x="1047159" y="1477270"/>
            <a:ext cx="13430993" cy="732682"/>
          </a:xfrm>
          <a:prstGeom prst="rect">
            <a:avLst/>
          </a:prstGeom>
        </p:spPr>
        <p:txBody>
          <a:bodyPr anchor="t" rtlCol="false" tIns="0" lIns="0" bIns="0" rIns="0">
            <a:spAutoFit/>
          </a:bodyPr>
          <a:lstStyle/>
          <a:p>
            <a:pPr algn="l">
              <a:lnSpc>
                <a:spcPts val="5500"/>
              </a:lnSpc>
            </a:pPr>
            <a:r>
              <a:rPr lang="en-US" sz="4375" b="true">
                <a:solidFill>
                  <a:srgbClr val="FFFFFF"/>
                </a:solidFill>
                <a:latin typeface="Nunito Bold"/>
                <a:ea typeface="Nunito Bold"/>
                <a:cs typeface="Nunito Bold"/>
                <a:sym typeface="Nunito Bold"/>
              </a:rPr>
              <a:t>Expérience Utilisateur (UX/UI) &amp; Méthodologie Agile</a:t>
            </a:r>
          </a:p>
        </p:txBody>
      </p:sp>
      <p:grpSp>
        <p:nvGrpSpPr>
          <p:cNvPr name="Group 7" id="7"/>
          <p:cNvGrpSpPr/>
          <p:nvPr/>
        </p:nvGrpSpPr>
        <p:grpSpPr>
          <a:xfrm rot="0">
            <a:off x="1047159" y="3257102"/>
            <a:ext cx="5198421" cy="3141021"/>
            <a:chOff x="0" y="0"/>
            <a:chExt cx="6931228" cy="4188028"/>
          </a:xfrm>
        </p:grpSpPr>
        <p:sp>
          <p:nvSpPr>
            <p:cNvPr name="Freeform 8" id="8"/>
            <p:cNvSpPr/>
            <p:nvPr/>
          </p:nvSpPr>
          <p:spPr>
            <a:xfrm flipH="false" flipV="false" rot="0">
              <a:off x="0" y="0"/>
              <a:ext cx="6931279" cy="4188079"/>
            </a:xfrm>
            <a:custGeom>
              <a:avLst/>
              <a:gdLst/>
              <a:ahLst/>
              <a:cxnLst/>
              <a:rect r="r" b="b" t="t" l="l"/>
              <a:pathLst>
                <a:path h="4188079" w="6931279">
                  <a:moveTo>
                    <a:pt x="0" y="243840"/>
                  </a:moveTo>
                  <a:cubicBezTo>
                    <a:pt x="0" y="109220"/>
                    <a:pt x="109220" y="0"/>
                    <a:pt x="243840" y="0"/>
                  </a:cubicBezTo>
                  <a:lnTo>
                    <a:pt x="6687439" y="0"/>
                  </a:lnTo>
                  <a:cubicBezTo>
                    <a:pt x="6822059" y="0"/>
                    <a:pt x="6931279" y="109220"/>
                    <a:pt x="6931279" y="243840"/>
                  </a:cubicBezTo>
                  <a:lnTo>
                    <a:pt x="6931279" y="3944239"/>
                  </a:lnTo>
                  <a:cubicBezTo>
                    <a:pt x="6931279" y="4078859"/>
                    <a:pt x="6822059" y="4188079"/>
                    <a:pt x="6687439" y="4188079"/>
                  </a:cubicBezTo>
                  <a:lnTo>
                    <a:pt x="243840" y="4188079"/>
                  </a:lnTo>
                  <a:cubicBezTo>
                    <a:pt x="109220" y="4188079"/>
                    <a:pt x="0" y="4078859"/>
                    <a:pt x="0" y="3944239"/>
                  </a:cubicBezTo>
                  <a:close/>
                </a:path>
              </a:pathLst>
            </a:custGeom>
            <a:solidFill>
              <a:srgbClr val="00002E">
                <a:alpha val="56078"/>
              </a:srgbClr>
            </a:solidFill>
          </p:spPr>
        </p:sp>
      </p:grpSp>
      <p:grpSp>
        <p:nvGrpSpPr>
          <p:cNvPr name="Group 9" id="9"/>
          <p:cNvGrpSpPr/>
          <p:nvPr/>
        </p:nvGrpSpPr>
        <p:grpSpPr>
          <a:xfrm rot="0">
            <a:off x="1047159" y="3219002"/>
            <a:ext cx="5198421" cy="152400"/>
            <a:chOff x="0" y="0"/>
            <a:chExt cx="6931228" cy="203200"/>
          </a:xfrm>
        </p:grpSpPr>
        <p:sp>
          <p:nvSpPr>
            <p:cNvPr name="Freeform 10" id="10"/>
            <p:cNvSpPr/>
            <p:nvPr/>
          </p:nvSpPr>
          <p:spPr>
            <a:xfrm flipH="false" flipV="false" rot="0">
              <a:off x="0" y="0"/>
              <a:ext cx="6931279" cy="203200"/>
            </a:xfrm>
            <a:custGeom>
              <a:avLst/>
              <a:gdLst/>
              <a:ahLst/>
              <a:cxnLst/>
              <a:rect r="r" b="b" t="t" l="l"/>
              <a:pathLst>
                <a:path h="203200" w="6931279">
                  <a:moveTo>
                    <a:pt x="0" y="101600"/>
                  </a:moveTo>
                  <a:cubicBezTo>
                    <a:pt x="0" y="45466"/>
                    <a:pt x="45466" y="0"/>
                    <a:pt x="101600" y="0"/>
                  </a:cubicBezTo>
                  <a:lnTo>
                    <a:pt x="6829679" y="0"/>
                  </a:lnTo>
                  <a:cubicBezTo>
                    <a:pt x="6885813" y="0"/>
                    <a:pt x="6931279" y="45466"/>
                    <a:pt x="6931279" y="101600"/>
                  </a:cubicBezTo>
                  <a:cubicBezTo>
                    <a:pt x="6931279" y="157734"/>
                    <a:pt x="6885813" y="203200"/>
                    <a:pt x="6829679" y="203200"/>
                  </a:cubicBezTo>
                  <a:lnTo>
                    <a:pt x="101600" y="203200"/>
                  </a:lnTo>
                  <a:cubicBezTo>
                    <a:pt x="45466" y="203200"/>
                    <a:pt x="0" y="157734"/>
                    <a:pt x="0" y="101600"/>
                  </a:cubicBezTo>
                  <a:close/>
                </a:path>
              </a:pathLst>
            </a:custGeom>
            <a:solidFill>
              <a:srgbClr val="F2B42D"/>
            </a:solidFill>
          </p:spPr>
        </p:sp>
      </p:grpSp>
      <p:grpSp>
        <p:nvGrpSpPr>
          <p:cNvPr name="Group 11" id="11"/>
          <p:cNvGrpSpPr/>
          <p:nvPr/>
        </p:nvGrpSpPr>
        <p:grpSpPr>
          <a:xfrm rot="0">
            <a:off x="3197495" y="2808389"/>
            <a:ext cx="897579" cy="897579"/>
            <a:chOff x="0" y="0"/>
            <a:chExt cx="1196772" cy="1196772"/>
          </a:xfrm>
        </p:grpSpPr>
        <p:sp>
          <p:nvSpPr>
            <p:cNvPr name="Freeform 12" id="12"/>
            <p:cNvSpPr/>
            <p:nvPr/>
          </p:nvSpPr>
          <p:spPr>
            <a:xfrm flipH="false" flipV="false" rot="0">
              <a:off x="0" y="0"/>
              <a:ext cx="1196721" cy="1196721"/>
            </a:xfrm>
            <a:custGeom>
              <a:avLst/>
              <a:gdLst/>
              <a:ahLst/>
              <a:cxnLst/>
              <a:rect r="r" b="b" t="t" l="l"/>
              <a:pathLst>
                <a:path h="1196721" w="1196721">
                  <a:moveTo>
                    <a:pt x="0" y="598424"/>
                  </a:moveTo>
                  <a:cubicBezTo>
                    <a:pt x="0" y="267970"/>
                    <a:pt x="267970" y="0"/>
                    <a:pt x="598424" y="0"/>
                  </a:cubicBezTo>
                  <a:cubicBezTo>
                    <a:pt x="928878" y="0"/>
                    <a:pt x="1196721" y="267970"/>
                    <a:pt x="1196721" y="598424"/>
                  </a:cubicBezTo>
                  <a:cubicBezTo>
                    <a:pt x="1196721" y="928878"/>
                    <a:pt x="928878" y="1196721"/>
                    <a:pt x="598424" y="1196721"/>
                  </a:cubicBezTo>
                  <a:cubicBezTo>
                    <a:pt x="267970" y="1196721"/>
                    <a:pt x="0" y="928878"/>
                    <a:pt x="0" y="598424"/>
                  </a:cubicBezTo>
                  <a:close/>
                </a:path>
              </a:pathLst>
            </a:custGeom>
            <a:solidFill>
              <a:srgbClr val="F2B42D"/>
            </a:solidFill>
          </p:spPr>
        </p:sp>
      </p:grpSp>
      <p:sp>
        <p:nvSpPr>
          <p:cNvPr name="TextBox 13" id="13"/>
          <p:cNvSpPr txBox="true"/>
          <p:nvPr/>
        </p:nvSpPr>
        <p:spPr>
          <a:xfrm rot="0">
            <a:off x="3466729" y="2928042"/>
            <a:ext cx="358978" cy="553488"/>
          </a:xfrm>
          <a:prstGeom prst="rect">
            <a:avLst/>
          </a:prstGeom>
        </p:spPr>
        <p:txBody>
          <a:bodyPr anchor="t" rtlCol="false" tIns="0" lIns="0" bIns="0" rIns="0">
            <a:spAutoFit/>
          </a:bodyPr>
          <a:lstStyle/>
          <a:p>
            <a:pPr algn="l">
              <a:lnSpc>
                <a:spcPts val="4499"/>
              </a:lnSpc>
            </a:pPr>
            <a:r>
              <a:rPr lang="en-US" sz="2812" b="true">
                <a:solidFill>
                  <a:srgbClr val="000000"/>
                </a:solidFill>
                <a:latin typeface="Nunito Bold"/>
                <a:ea typeface="Nunito Bold"/>
                <a:cs typeface="Nunito Bold"/>
                <a:sym typeface="Nunito Bold"/>
              </a:rPr>
              <a:t>1</a:t>
            </a:r>
          </a:p>
        </p:txBody>
      </p:sp>
      <p:sp>
        <p:nvSpPr>
          <p:cNvPr name="TextBox 14" id="14"/>
          <p:cNvSpPr txBox="true"/>
          <p:nvPr/>
        </p:nvSpPr>
        <p:spPr>
          <a:xfrm rot="0">
            <a:off x="1384402" y="3986060"/>
            <a:ext cx="3520230" cy="458991"/>
          </a:xfrm>
          <a:prstGeom prst="rect">
            <a:avLst/>
          </a:prstGeom>
        </p:spPr>
        <p:txBody>
          <a:bodyPr anchor="t" rtlCol="false" tIns="0" lIns="0" bIns="0" rIns="0">
            <a:spAutoFit/>
          </a:bodyPr>
          <a:lstStyle/>
          <a:p>
            <a:pPr algn="l">
              <a:lnSpc>
                <a:spcPts val="3437"/>
              </a:lnSpc>
            </a:pPr>
            <a:r>
              <a:rPr lang="en-US" sz="2750" b="true">
                <a:solidFill>
                  <a:srgbClr val="FFFFFF"/>
                </a:solidFill>
                <a:latin typeface="Nunito Bold"/>
                <a:ea typeface="Nunito Bold"/>
                <a:cs typeface="Nunito Bold"/>
                <a:sym typeface="Nunito Bold"/>
              </a:rPr>
              <a:t>Clarté Visuelle</a:t>
            </a:r>
          </a:p>
        </p:txBody>
      </p:sp>
      <p:sp>
        <p:nvSpPr>
          <p:cNvPr name="TextBox 15" id="15"/>
          <p:cNvSpPr txBox="true"/>
          <p:nvPr/>
        </p:nvSpPr>
        <p:spPr>
          <a:xfrm rot="0">
            <a:off x="1384402" y="4529290"/>
            <a:ext cx="4523927" cy="1531591"/>
          </a:xfrm>
          <a:prstGeom prst="rect">
            <a:avLst/>
          </a:prstGeom>
        </p:spPr>
        <p:txBody>
          <a:bodyPr anchor="t" rtlCol="false" tIns="0" lIns="0" bIns="0" rIns="0">
            <a:spAutoFit/>
          </a:bodyPr>
          <a:lstStyle/>
          <a:p>
            <a:pPr algn="l">
              <a:lnSpc>
                <a:spcPts val="3750"/>
              </a:lnSpc>
            </a:pPr>
            <a:r>
              <a:rPr lang="en-US" sz="2312">
                <a:solidFill>
                  <a:srgbClr val="FFFFFF"/>
                </a:solidFill>
                <a:latin typeface="PT Sans"/>
                <a:ea typeface="PT Sans"/>
                <a:cs typeface="PT Sans"/>
                <a:sym typeface="PT Sans"/>
              </a:rPr>
              <a:t>Interface simple et épurée, utilisation d'icônes ou d'avatars minimalistes.</a:t>
            </a:r>
          </a:p>
        </p:txBody>
      </p:sp>
      <p:grpSp>
        <p:nvGrpSpPr>
          <p:cNvPr name="Group 16" id="16"/>
          <p:cNvGrpSpPr/>
          <p:nvPr/>
        </p:nvGrpSpPr>
        <p:grpSpPr>
          <a:xfrm rot="0">
            <a:off x="6544713" y="3257102"/>
            <a:ext cx="5198421" cy="3141021"/>
            <a:chOff x="0" y="0"/>
            <a:chExt cx="6931228" cy="4188028"/>
          </a:xfrm>
        </p:grpSpPr>
        <p:sp>
          <p:nvSpPr>
            <p:cNvPr name="Freeform 17" id="17"/>
            <p:cNvSpPr/>
            <p:nvPr/>
          </p:nvSpPr>
          <p:spPr>
            <a:xfrm flipH="false" flipV="false" rot="0">
              <a:off x="0" y="0"/>
              <a:ext cx="6931279" cy="4188079"/>
            </a:xfrm>
            <a:custGeom>
              <a:avLst/>
              <a:gdLst/>
              <a:ahLst/>
              <a:cxnLst/>
              <a:rect r="r" b="b" t="t" l="l"/>
              <a:pathLst>
                <a:path h="4188079" w="6931279">
                  <a:moveTo>
                    <a:pt x="0" y="243840"/>
                  </a:moveTo>
                  <a:cubicBezTo>
                    <a:pt x="0" y="109220"/>
                    <a:pt x="109220" y="0"/>
                    <a:pt x="243840" y="0"/>
                  </a:cubicBezTo>
                  <a:lnTo>
                    <a:pt x="6687439" y="0"/>
                  </a:lnTo>
                  <a:cubicBezTo>
                    <a:pt x="6822059" y="0"/>
                    <a:pt x="6931279" y="109220"/>
                    <a:pt x="6931279" y="243840"/>
                  </a:cubicBezTo>
                  <a:lnTo>
                    <a:pt x="6931279" y="3944239"/>
                  </a:lnTo>
                  <a:cubicBezTo>
                    <a:pt x="6931279" y="4078859"/>
                    <a:pt x="6822059" y="4188079"/>
                    <a:pt x="6687439" y="4188079"/>
                  </a:cubicBezTo>
                  <a:lnTo>
                    <a:pt x="243840" y="4188079"/>
                  </a:lnTo>
                  <a:cubicBezTo>
                    <a:pt x="109220" y="4188079"/>
                    <a:pt x="0" y="4078859"/>
                    <a:pt x="0" y="3944239"/>
                  </a:cubicBezTo>
                  <a:close/>
                </a:path>
              </a:pathLst>
            </a:custGeom>
            <a:solidFill>
              <a:srgbClr val="00002E">
                <a:alpha val="56078"/>
              </a:srgbClr>
            </a:solidFill>
          </p:spPr>
        </p:sp>
      </p:grpSp>
      <p:grpSp>
        <p:nvGrpSpPr>
          <p:cNvPr name="Group 18" id="18"/>
          <p:cNvGrpSpPr/>
          <p:nvPr/>
        </p:nvGrpSpPr>
        <p:grpSpPr>
          <a:xfrm rot="0">
            <a:off x="6544713" y="3219002"/>
            <a:ext cx="5198421" cy="152400"/>
            <a:chOff x="0" y="0"/>
            <a:chExt cx="6931228" cy="203200"/>
          </a:xfrm>
        </p:grpSpPr>
        <p:sp>
          <p:nvSpPr>
            <p:cNvPr name="Freeform 19" id="19"/>
            <p:cNvSpPr/>
            <p:nvPr/>
          </p:nvSpPr>
          <p:spPr>
            <a:xfrm flipH="false" flipV="false" rot="0">
              <a:off x="0" y="0"/>
              <a:ext cx="6931279" cy="203200"/>
            </a:xfrm>
            <a:custGeom>
              <a:avLst/>
              <a:gdLst/>
              <a:ahLst/>
              <a:cxnLst/>
              <a:rect r="r" b="b" t="t" l="l"/>
              <a:pathLst>
                <a:path h="203200" w="6931279">
                  <a:moveTo>
                    <a:pt x="0" y="101600"/>
                  </a:moveTo>
                  <a:cubicBezTo>
                    <a:pt x="0" y="45466"/>
                    <a:pt x="45466" y="0"/>
                    <a:pt x="101600" y="0"/>
                  </a:cubicBezTo>
                  <a:lnTo>
                    <a:pt x="6829679" y="0"/>
                  </a:lnTo>
                  <a:cubicBezTo>
                    <a:pt x="6885813" y="0"/>
                    <a:pt x="6931279" y="45466"/>
                    <a:pt x="6931279" y="101600"/>
                  </a:cubicBezTo>
                  <a:cubicBezTo>
                    <a:pt x="6931279" y="157734"/>
                    <a:pt x="6885813" y="203200"/>
                    <a:pt x="6829679" y="203200"/>
                  </a:cubicBezTo>
                  <a:lnTo>
                    <a:pt x="101600" y="203200"/>
                  </a:lnTo>
                  <a:cubicBezTo>
                    <a:pt x="45466" y="203200"/>
                    <a:pt x="0" y="157734"/>
                    <a:pt x="0" y="101600"/>
                  </a:cubicBezTo>
                  <a:close/>
                </a:path>
              </a:pathLst>
            </a:custGeom>
            <a:solidFill>
              <a:srgbClr val="D7425E"/>
            </a:solidFill>
          </p:spPr>
        </p:sp>
      </p:grpSp>
      <p:grpSp>
        <p:nvGrpSpPr>
          <p:cNvPr name="Group 20" id="20"/>
          <p:cNvGrpSpPr/>
          <p:nvPr/>
        </p:nvGrpSpPr>
        <p:grpSpPr>
          <a:xfrm rot="0">
            <a:off x="8695058" y="2808389"/>
            <a:ext cx="897579" cy="897579"/>
            <a:chOff x="0" y="0"/>
            <a:chExt cx="1196772" cy="1196772"/>
          </a:xfrm>
        </p:grpSpPr>
        <p:sp>
          <p:nvSpPr>
            <p:cNvPr name="Freeform 21" id="21"/>
            <p:cNvSpPr/>
            <p:nvPr/>
          </p:nvSpPr>
          <p:spPr>
            <a:xfrm flipH="false" flipV="false" rot="0">
              <a:off x="0" y="0"/>
              <a:ext cx="1196721" cy="1196721"/>
            </a:xfrm>
            <a:custGeom>
              <a:avLst/>
              <a:gdLst/>
              <a:ahLst/>
              <a:cxnLst/>
              <a:rect r="r" b="b" t="t" l="l"/>
              <a:pathLst>
                <a:path h="1196721" w="1196721">
                  <a:moveTo>
                    <a:pt x="0" y="598424"/>
                  </a:moveTo>
                  <a:cubicBezTo>
                    <a:pt x="0" y="267970"/>
                    <a:pt x="267970" y="0"/>
                    <a:pt x="598424" y="0"/>
                  </a:cubicBezTo>
                  <a:cubicBezTo>
                    <a:pt x="928878" y="0"/>
                    <a:pt x="1196721" y="267970"/>
                    <a:pt x="1196721" y="598424"/>
                  </a:cubicBezTo>
                  <a:cubicBezTo>
                    <a:pt x="1196721" y="928878"/>
                    <a:pt x="928878" y="1196721"/>
                    <a:pt x="598424" y="1196721"/>
                  </a:cubicBezTo>
                  <a:cubicBezTo>
                    <a:pt x="267970" y="1196721"/>
                    <a:pt x="0" y="928878"/>
                    <a:pt x="0" y="598424"/>
                  </a:cubicBezTo>
                  <a:close/>
                </a:path>
              </a:pathLst>
            </a:custGeom>
            <a:solidFill>
              <a:srgbClr val="F2B42D"/>
            </a:solidFill>
          </p:spPr>
        </p:sp>
      </p:grpSp>
      <p:sp>
        <p:nvSpPr>
          <p:cNvPr name="TextBox 22" id="22"/>
          <p:cNvSpPr txBox="true"/>
          <p:nvPr/>
        </p:nvSpPr>
        <p:spPr>
          <a:xfrm rot="0">
            <a:off x="8964292" y="2928042"/>
            <a:ext cx="358978" cy="553488"/>
          </a:xfrm>
          <a:prstGeom prst="rect">
            <a:avLst/>
          </a:prstGeom>
        </p:spPr>
        <p:txBody>
          <a:bodyPr anchor="t" rtlCol="false" tIns="0" lIns="0" bIns="0" rIns="0">
            <a:spAutoFit/>
          </a:bodyPr>
          <a:lstStyle/>
          <a:p>
            <a:pPr algn="l">
              <a:lnSpc>
                <a:spcPts val="4499"/>
              </a:lnSpc>
            </a:pPr>
            <a:r>
              <a:rPr lang="en-US" sz="2812" b="true">
                <a:solidFill>
                  <a:srgbClr val="000000"/>
                </a:solidFill>
                <a:latin typeface="Nunito Bold"/>
                <a:ea typeface="Nunito Bold"/>
                <a:cs typeface="Nunito Bold"/>
                <a:sym typeface="Nunito Bold"/>
              </a:rPr>
              <a:t>2</a:t>
            </a:r>
          </a:p>
        </p:txBody>
      </p:sp>
      <p:sp>
        <p:nvSpPr>
          <p:cNvPr name="TextBox 23" id="23"/>
          <p:cNvSpPr txBox="true"/>
          <p:nvPr/>
        </p:nvSpPr>
        <p:spPr>
          <a:xfrm rot="0">
            <a:off x="6881965" y="3986060"/>
            <a:ext cx="3520230" cy="458991"/>
          </a:xfrm>
          <a:prstGeom prst="rect">
            <a:avLst/>
          </a:prstGeom>
        </p:spPr>
        <p:txBody>
          <a:bodyPr anchor="t" rtlCol="false" tIns="0" lIns="0" bIns="0" rIns="0">
            <a:spAutoFit/>
          </a:bodyPr>
          <a:lstStyle/>
          <a:p>
            <a:pPr algn="l">
              <a:lnSpc>
                <a:spcPts val="3437"/>
              </a:lnSpc>
            </a:pPr>
            <a:r>
              <a:rPr lang="en-US" sz="2750" b="true">
                <a:solidFill>
                  <a:srgbClr val="FFFFFF"/>
                </a:solidFill>
                <a:latin typeface="Nunito Bold"/>
                <a:ea typeface="Nunito Bold"/>
                <a:cs typeface="Nunito Bold"/>
                <a:sym typeface="Nunito Bold"/>
              </a:rPr>
              <a:t>Messages Précis</a:t>
            </a:r>
          </a:p>
        </p:txBody>
      </p:sp>
      <p:sp>
        <p:nvSpPr>
          <p:cNvPr name="TextBox 24" id="24"/>
          <p:cNvSpPr txBox="true"/>
          <p:nvPr/>
        </p:nvSpPr>
        <p:spPr>
          <a:xfrm rot="0">
            <a:off x="6881965" y="4529290"/>
            <a:ext cx="4523927" cy="1531591"/>
          </a:xfrm>
          <a:prstGeom prst="rect">
            <a:avLst/>
          </a:prstGeom>
        </p:spPr>
        <p:txBody>
          <a:bodyPr anchor="t" rtlCol="false" tIns="0" lIns="0" bIns="0" rIns="0">
            <a:spAutoFit/>
          </a:bodyPr>
          <a:lstStyle/>
          <a:p>
            <a:pPr algn="l">
              <a:lnSpc>
                <a:spcPts val="3750"/>
              </a:lnSpc>
            </a:pPr>
            <a:r>
              <a:rPr lang="en-US" sz="2312">
                <a:solidFill>
                  <a:srgbClr val="FFFFFF"/>
                </a:solidFill>
                <a:latin typeface="PT Sans"/>
                <a:ea typeface="PT Sans"/>
                <a:cs typeface="PT Sans"/>
                <a:sym typeface="PT Sans"/>
              </a:rPr>
              <a:t>Messages d’alerte clairs et compréhensibles (ex: "Username or password wrong").</a:t>
            </a:r>
          </a:p>
        </p:txBody>
      </p:sp>
      <p:grpSp>
        <p:nvGrpSpPr>
          <p:cNvPr name="Group 25" id="25"/>
          <p:cNvGrpSpPr/>
          <p:nvPr/>
        </p:nvGrpSpPr>
        <p:grpSpPr>
          <a:xfrm rot="0">
            <a:off x="12042277" y="3257102"/>
            <a:ext cx="5198564" cy="3141021"/>
            <a:chOff x="0" y="0"/>
            <a:chExt cx="6931419" cy="4188028"/>
          </a:xfrm>
        </p:grpSpPr>
        <p:sp>
          <p:nvSpPr>
            <p:cNvPr name="Freeform 26" id="26"/>
            <p:cNvSpPr/>
            <p:nvPr/>
          </p:nvSpPr>
          <p:spPr>
            <a:xfrm flipH="false" flipV="false" rot="0">
              <a:off x="0" y="0"/>
              <a:ext cx="6931406" cy="4188079"/>
            </a:xfrm>
            <a:custGeom>
              <a:avLst/>
              <a:gdLst/>
              <a:ahLst/>
              <a:cxnLst/>
              <a:rect r="r" b="b" t="t" l="l"/>
              <a:pathLst>
                <a:path h="4188079" w="6931406">
                  <a:moveTo>
                    <a:pt x="0" y="243840"/>
                  </a:moveTo>
                  <a:cubicBezTo>
                    <a:pt x="0" y="109220"/>
                    <a:pt x="109220" y="0"/>
                    <a:pt x="243840" y="0"/>
                  </a:cubicBezTo>
                  <a:lnTo>
                    <a:pt x="6687566" y="0"/>
                  </a:lnTo>
                  <a:cubicBezTo>
                    <a:pt x="6822186" y="0"/>
                    <a:pt x="6931406" y="109220"/>
                    <a:pt x="6931406" y="243840"/>
                  </a:cubicBezTo>
                  <a:lnTo>
                    <a:pt x="6931406" y="3944239"/>
                  </a:lnTo>
                  <a:cubicBezTo>
                    <a:pt x="6931406" y="4078859"/>
                    <a:pt x="6822186" y="4188079"/>
                    <a:pt x="6687566" y="4188079"/>
                  </a:cubicBezTo>
                  <a:lnTo>
                    <a:pt x="243840" y="4188079"/>
                  </a:lnTo>
                  <a:cubicBezTo>
                    <a:pt x="109220" y="4188079"/>
                    <a:pt x="0" y="4078859"/>
                    <a:pt x="0" y="3944239"/>
                  </a:cubicBezTo>
                  <a:close/>
                </a:path>
              </a:pathLst>
            </a:custGeom>
            <a:solidFill>
              <a:srgbClr val="00002E">
                <a:alpha val="56078"/>
              </a:srgbClr>
            </a:solidFill>
          </p:spPr>
        </p:sp>
      </p:grpSp>
      <p:grpSp>
        <p:nvGrpSpPr>
          <p:cNvPr name="Group 27" id="27"/>
          <p:cNvGrpSpPr/>
          <p:nvPr/>
        </p:nvGrpSpPr>
        <p:grpSpPr>
          <a:xfrm rot="0">
            <a:off x="12042277" y="3219002"/>
            <a:ext cx="5198564" cy="152400"/>
            <a:chOff x="0" y="0"/>
            <a:chExt cx="6931419" cy="203200"/>
          </a:xfrm>
        </p:grpSpPr>
        <p:sp>
          <p:nvSpPr>
            <p:cNvPr name="Freeform 28" id="28"/>
            <p:cNvSpPr/>
            <p:nvPr/>
          </p:nvSpPr>
          <p:spPr>
            <a:xfrm flipH="false" flipV="false" rot="0">
              <a:off x="0" y="0"/>
              <a:ext cx="6931406" cy="203200"/>
            </a:xfrm>
            <a:custGeom>
              <a:avLst/>
              <a:gdLst/>
              <a:ahLst/>
              <a:cxnLst/>
              <a:rect r="r" b="b" t="t" l="l"/>
              <a:pathLst>
                <a:path h="203200" w="6931406">
                  <a:moveTo>
                    <a:pt x="0" y="101600"/>
                  </a:moveTo>
                  <a:cubicBezTo>
                    <a:pt x="0" y="45466"/>
                    <a:pt x="45466" y="0"/>
                    <a:pt x="101600" y="0"/>
                  </a:cubicBezTo>
                  <a:lnTo>
                    <a:pt x="6829806" y="0"/>
                  </a:lnTo>
                  <a:cubicBezTo>
                    <a:pt x="6885940" y="0"/>
                    <a:pt x="6931406" y="45466"/>
                    <a:pt x="6931406" y="101600"/>
                  </a:cubicBezTo>
                  <a:cubicBezTo>
                    <a:pt x="6931406" y="157734"/>
                    <a:pt x="6885940" y="203200"/>
                    <a:pt x="6829806" y="203200"/>
                  </a:cubicBezTo>
                  <a:lnTo>
                    <a:pt x="101600" y="203200"/>
                  </a:lnTo>
                  <a:cubicBezTo>
                    <a:pt x="45466" y="203200"/>
                    <a:pt x="0" y="157734"/>
                    <a:pt x="0" y="101600"/>
                  </a:cubicBezTo>
                  <a:close/>
                </a:path>
              </a:pathLst>
            </a:custGeom>
            <a:solidFill>
              <a:srgbClr val="DD785E"/>
            </a:solidFill>
          </p:spPr>
        </p:sp>
      </p:grpSp>
      <p:grpSp>
        <p:nvGrpSpPr>
          <p:cNvPr name="Group 29" id="29"/>
          <p:cNvGrpSpPr/>
          <p:nvPr/>
        </p:nvGrpSpPr>
        <p:grpSpPr>
          <a:xfrm rot="0">
            <a:off x="14192774" y="2808389"/>
            <a:ext cx="897579" cy="897579"/>
            <a:chOff x="0" y="0"/>
            <a:chExt cx="1196772" cy="1196772"/>
          </a:xfrm>
        </p:grpSpPr>
        <p:sp>
          <p:nvSpPr>
            <p:cNvPr name="Freeform 30" id="30"/>
            <p:cNvSpPr/>
            <p:nvPr/>
          </p:nvSpPr>
          <p:spPr>
            <a:xfrm flipH="false" flipV="false" rot="0">
              <a:off x="0" y="0"/>
              <a:ext cx="1196721" cy="1196721"/>
            </a:xfrm>
            <a:custGeom>
              <a:avLst/>
              <a:gdLst/>
              <a:ahLst/>
              <a:cxnLst/>
              <a:rect r="r" b="b" t="t" l="l"/>
              <a:pathLst>
                <a:path h="1196721" w="1196721">
                  <a:moveTo>
                    <a:pt x="0" y="598424"/>
                  </a:moveTo>
                  <a:cubicBezTo>
                    <a:pt x="0" y="267970"/>
                    <a:pt x="267970" y="0"/>
                    <a:pt x="598424" y="0"/>
                  </a:cubicBezTo>
                  <a:cubicBezTo>
                    <a:pt x="928878" y="0"/>
                    <a:pt x="1196721" y="267970"/>
                    <a:pt x="1196721" y="598424"/>
                  </a:cubicBezTo>
                  <a:cubicBezTo>
                    <a:pt x="1196721" y="928878"/>
                    <a:pt x="928878" y="1196721"/>
                    <a:pt x="598424" y="1196721"/>
                  </a:cubicBezTo>
                  <a:cubicBezTo>
                    <a:pt x="267970" y="1196721"/>
                    <a:pt x="0" y="928878"/>
                    <a:pt x="0" y="598424"/>
                  </a:cubicBezTo>
                  <a:close/>
                </a:path>
              </a:pathLst>
            </a:custGeom>
            <a:solidFill>
              <a:srgbClr val="F2B42D"/>
            </a:solidFill>
          </p:spPr>
        </p:sp>
      </p:grpSp>
      <p:sp>
        <p:nvSpPr>
          <p:cNvPr name="TextBox 31" id="31"/>
          <p:cNvSpPr txBox="true"/>
          <p:nvPr/>
        </p:nvSpPr>
        <p:spPr>
          <a:xfrm rot="0">
            <a:off x="14461998" y="2928042"/>
            <a:ext cx="358978" cy="553488"/>
          </a:xfrm>
          <a:prstGeom prst="rect">
            <a:avLst/>
          </a:prstGeom>
        </p:spPr>
        <p:txBody>
          <a:bodyPr anchor="t" rtlCol="false" tIns="0" lIns="0" bIns="0" rIns="0">
            <a:spAutoFit/>
          </a:bodyPr>
          <a:lstStyle/>
          <a:p>
            <a:pPr algn="l">
              <a:lnSpc>
                <a:spcPts val="4499"/>
              </a:lnSpc>
            </a:pPr>
            <a:r>
              <a:rPr lang="en-US" sz="2812" b="true">
                <a:solidFill>
                  <a:srgbClr val="000000"/>
                </a:solidFill>
                <a:latin typeface="Nunito Bold"/>
                <a:ea typeface="Nunito Bold"/>
                <a:cs typeface="Nunito Bold"/>
                <a:sym typeface="Nunito Bold"/>
              </a:rPr>
              <a:t>3</a:t>
            </a:r>
          </a:p>
        </p:txBody>
      </p:sp>
      <p:sp>
        <p:nvSpPr>
          <p:cNvPr name="TextBox 32" id="32"/>
          <p:cNvSpPr txBox="true"/>
          <p:nvPr/>
        </p:nvSpPr>
        <p:spPr>
          <a:xfrm rot="0">
            <a:off x="12379528" y="3986060"/>
            <a:ext cx="3520230" cy="458991"/>
          </a:xfrm>
          <a:prstGeom prst="rect">
            <a:avLst/>
          </a:prstGeom>
        </p:spPr>
        <p:txBody>
          <a:bodyPr anchor="t" rtlCol="false" tIns="0" lIns="0" bIns="0" rIns="0">
            <a:spAutoFit/>
          </a:bodyPr>
          <a:lstStyle/>
          <a:p>
            <a:pPr algn="l">
              <a:lnSpc>
                <a:spcPts val="3437"/>
              </a:lnSpc>
            </a:pPr>
            <a:r>
              <a:rPr lang="en-US" sz="2750" b="true">
                <a:solidFill>
                  <a:srgbClr val="FFFFFF"/>
                </a:solidFill>
                <a:latin typeface="Nunito Bold"/>
                <a:ea typeface="Nunito Bold"/>
                <a:cs typeface="Nunito Bold"/>
                <a:sym typeface="Nunito Bold"/>
              </a:rPr>
              <a:t>Navigation Optimale</a:t>
            </a:r>
          </a:p>
        </p:txBody>
      </p:sp>
      <p:sp>
        <p:nvSpPr>
          <p:cNvPr name="TextBox 33" id="33"/>
          <p:cNvSpPr txBox="true"/>
          <p:nvPr/>
        </p:nvSpPr>
        <p:spPr>
          <a:xfrm rot="0">
            <a:off x="12379528" y="4529290"/>
            <a:ext cx="4524080" cy="1052808"/>
          </a:xfrm>
          <a:prstGeom prst="rect">
            <a:avLst/>
          </a:prstGeom>
        </p:spPr>
        <p:txBody>
          <a:bodyPr anchor="t" rtlCol="false" tIns="0" lIns="0" bIns="0" rIns="0">
            <a:spAutoFit/>
          </a:bodyPr>
          <a:lstStyle/>
          <a:p>
            <a:pPr algn="l">
              <a:lnSpc>
                <a:spcPts val="3750"/>
              </a:lnSpc>
            </a:pPr>
            <a:r>
              <a:rPr lang="en-US" sz="2312">
                <a:solidFill>
                  <a:srgbClr val="FFFFFF"/>
                </a:solidFill>
                <a:latin typeface="PT Sans"/>
                <a:ea typeface="PT Sans"/>
                <a:cs typeface="PT Sans"/>
                <a:sym typeface="PT Sans"/>
              </a:rPr>
              <a:t>Navigation fluide et entièrement responsive sur mobile et desktop.</a:t>
            </a:r>
          </a:p>
        </p:txBody>
      </p:sp>
      <p:sp>
        <p:nvSpPr>
          <p:cNvPr name="TextBox 34" id="34"/>
          <p:cNvSpPr txBox="true"/>
          <p:nvPr/>
        </p:nvSpPr>
        <p:spPr>
          <a:xfrm rot="0">
            <a:off x="1047159" y="6827787"/>
            <a:ext cx="5411095" cy="546945"/>
          </a:xfrm>
          <a:prstGeom prst="rect">
            <a:avLst/>
          </a:prstGeom>
        </p:spPr>
        <p:txBody>
          <a:bodyPr anchor="t" rtlCol="false" tIns="0" lIns="0" bIns="0" rIns="0">
            <a:spAutoFit/>
          </a:bodyPr>
          <a:lstStyle/>
          <a:p>
            <a:pPr algn="l">
              <a:lnSpc>
                <a:spcPts val="4125"/>
              </a:lnSpc>
            </a:pPr>
            <a:r>
              <a:rPr lang="en-US" sz="3312" b="true">
                <a:solidFill>
                  <a:srgbClr val="FFFFFF"/>
                </a:solidFill>
                <a:latin typeface="Nunito Bold"/>
                <a:ea typeface="Nunito Bold"/>
                <a:cs typeface="Nunito Bold"/>
                <a:sym typeface="Nunito Bold"/>
              </a:rPr>
              <a:t>Méthodologie Agile (Scrum)</a:t>
            </a:r>
          </a:p>
        </p:txBody>
      </p:sp>
      <p:sp>
        <p:nvSpPr>
          <p:cNvPr name="TextBox 35" id="35"/>
          <p:cNvSpPr txBox="true"/>
          <p:nvPr/>
        </p:nvSpPr>
        <p:spPr>
          <a:xfrm rot="0">
            <a:off x="1047159" y="7728194"/>
            <a:ext cx="16193691" cy="1052808"/>
          </a:xfrm>
          <a:prstGeom prst="rect">
            <a:avLst/>
          </a:prstGeom>
        </p:spPr>
        <p:txBody>
          <a:bodyPr anchor="t" rtlCol="false" tIns="0" lIns="0" bIns="0" rIns="0">
            <a:spAutoFit/>
          </a:bodyPr>
          <a:lstStyle/>
          <a:p>
            <a:pPr algn="l">
              <a:lnSpc>
                <a:spcPts val="3750"/>
              </a:lnSpc>
            </a:pPr>
            <a:r>
              <a:rPr lang="en-US" sz="2312">
                <a:solidFill>
                  <a:srgbClr val="FFFFFF"/>
                </a:solidFill>
                <a:latin typeface="PT Sans"/>
                <a:ea typeface="PT Sans"/>
                <a:cs typeface="PT Sans"/>
                <a:sym typeface="PT Sans"/>
              </a:rPr>
              <a:t>Travail en sprints de 2 à 3 semaines, Product Backlog détaillé. Réunions Scrum régulières (Planning, Daily, Review, Retrospective). Outil de gestion de projet (Trello/Jira). Livraisons incrémentales à chaque fin de sprint.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0002E">
                <a:alpha val="56078"/>
              </a:srgbClr>
            </a:solidFill>
          </p:spPr>
        </p:sp>
      </p:grpSp>
      <p:sp>
        <p:nvSpPr>
          <p:cNvPr name="TextBox 6" id="6"/>
          <p:cNvSpPr txBox="true"/>
          <p:nvPr/>
        </p:nvSpPr>
        <p:spPr>
          <a:xfrm rot="0">
            <a:off x="1047159" y="1691726"/>
            <a:ext cx="12086187" cy="732682"/>
          </a:xfrm>
          <a:prstGeom prst="rect">
            <a:avLst/>
          </a:prstGeom>
        </p:spPr>
        <p:txBody>
          <a:bodyPr anchor="t" rtlCol="false" tIns="0" lIns="0" bIns="0" rIns="0">
            <a:spAutoFit/>
          </a:bodyPr>
          <a:lstStyle/>
          <a:p>
            <a:pPr algn="l">
              <a:lnSpc>
                <a:spcPts val="5500"/>
              </a:lnSpc>
            </a:pPr>
            <a:r>
              <a:rPr lang="en-US" sz="4375" b="true">
                <a:solidFill>
                  <a:srgbClr val="FFFFFF"/>
                </a:solidFill>
                <a:latin typeface="Nunito Bold"/>
                <a:ea typeface="Nunito Bold"/>
                <a:cs typeface="Nunito Bold"/>
                <a:sym typeface="Nunito Bold"/>
              </a:rPr>
              <a:t>Technologies de Pointe au Service du Bien-être</a:t>
            </a:r>
          </a:p>
        </p:txBody>
      </p:sp>
      <p:sp>
        <p:nvSpPr>
          <p:cNvPr name="TextBox 7" id="7"/>
          <p:cNvSpPr txBox="true"/>
          <p:nvPr/>
        </p:nvSpPr>
        <p:spPr>
          <a:xfrm rot="0">
            <a:off x="1047159" y="3153223"/>
            <a:ext cx="4224338" cy="546945"/>
          </a:xfrm>
          <a:prstGeom prst="rect">
            <a:avLst/>
          </a:prstGeom>
        </p:spPr>
        <p:txBody>
          <a:bodyPr anchor="t" rtlCol="false" tIns="0" lIns="0" bIns="0" rIns="0">
            <a:spAutoFit/>
          </a:bodyPr>
          <a:lstStyle/>
          <a:p>
            <a:pPr algn="l">
              <a:lnSpc>
                <a:spcPts val="4125"/>
              </a:lnSpc>
            </a:pPr>
            <a:r>
              <a:rPr lang="en-US" sz="3312" b="true">
                <a:solidFill>
                  <a:srgbClr val="FFFFFF"/>
                </a:solidFill>
                <a:latin typeface="Nunito Bold"/>
                <a:ea typeface="Nunito Bold"/>
                <a:cs typeface="Nunito Bold"/>
                <a:sym typeface="Nunito Bold"/>
              </a:rPr>
              <a:t>Back-end</a:t>
            </a:r>
          </a:p>
        </p:txBody>
      </p:sp>
      <p:sp>
        <p:nvSpPr>
          <p:cNvPr name="TextBox 8" id="8"/>
          <p:cNvSpPr txBox="true"/>
          <p:nvPr/>
        </p:nvSpPr>
        <p:spPr>
          <a:xfrm rot="0">
            <a:off x="1047159" y="3904059"/>
            <a:ext cx="7731919" cy="1531591"/>
          </a:xfrm>
          <a:prstGeom prst="rect">
            <a:avLst/>
          </a:prstGeom>
        </p:spPr>
        <p:txBody>
          <a:bodyPr anchor="t" rtlCol="false" tIns="0" lIns="0" bIns="0" rIns="0">
            <a:spAutoFit/>
          </a:bodyPr>
          <a:lstStyle/>
          <a:p>
            <a:pPr algn="l">
              <a:lnSpc>
                <a:spcPts val="3750"/>
              </a:lnSpc>
            </a:pPr>
            <a:r>
              <a:rPr lang="en-US" sz="2312">
                <a:solidFill>
                  <a:srgbClr val="FFFFFF"/>
                </a:solidFill>
                <a:latin typeface="PT Sans"/>
                <a:ea typeface="PT Sans"/>
                <a:cs typeface="PT Sans"/>
                <a:sym typeface="PT Sans"/>
              </a:rPr>
              <a:t>Notre plateforme est propulsée par le puissant framework Python Django, assurant une logique métier robuste et une gestion efficace des données.</a:t>
            </a:r>
          </a:p>
        </p:txBody>
      </p:sp>
      <p:sp>
        <p:nvSpPr>
          <p:cNvPr name="TextBox 9" id="9"/>
          <p:cNvSpPr txBox="true"/>
          <p:nvPr/>
        </p:nvSpPr>
        <p:spPr>
          <a:xfrm rot="0">
            <a:off x="9518447" y="3153223"/>
            <a:ext cx="4224338" cy="546945"/>
          </a:xfrm>
          <a:prstGeom prst="rect">
            <a:avLst/>
          </a:prstGeom>
        </p:spPr>
        <p:txBody>
          <a:bodyPr anchor="t" rtlCol="false" tIns="0" lIns="0" bIns="0" rIns="0">
            <a:spAutoFit/>
          </a:bodyPr>
          <a:lstStyle/>
          <a:p>
            <a:pPr algn="l">
              <a:lnSpc>
                <a:spcPts val="4125"/>
              </a:lnSpc>
            </a:pPr>
            <a:r>
              <a:rPr lang="en-US" sz="3312" b="true">
                <a:solidFill>
                  <a:srgbClr val="FFFFFF"/>
                </a:solidFill>
                <a:latin typeface="Nunito Bold"/>
                <a:ea typeface="Nunito Bold"/>
                <a:cs typeface="Nunito Bold"/>
                <a:sym typeface="Nunito Bold"/>
              </a:rPr>
              <a:t>Front-end</a:t>
            </a:r>
          </a:p>
        </p:txBody>
      </p:sp>
      <p:sp>
        <p:nvSpPr>
          <p:cNvPr name="TextBox 10" id="10"/>
          <p:cNvSpPr txBox="true"/>
          <p:nvPr/>
        </p:nvSpPr>
        <p:spPr>
          <a:xfrm rot="0">
            <a:off x="9518447" y="3904059"/>
            <a:ext cx="7731919" cy="2010366"/>
          </a:xfrm>
          <a:prstGeom prst="rect">
            <a:avLst/>
          </a:prstGeom>
        </p:spPr>
        <p:txBody>
          <a:bodyPr anchor="t" rtlCol="false" tIns="0" lIns="0" bIns="0" rIns="0">
            <a:spAutoFit/>
          </a:bodyPr>
          <a:lstStyle/>
          <a:p>
            <a:pPr algn="l">
              <a:lnSpc>
                <a:spcPts val="3750"/>
              </a:lnSpc>
            </a:pPr>
            <a:r>
              <a:rPr lang="en-US" sz="2312">
                <a:solidFill>
                  <a:srgbClr val="FFFFFF"/>
                </a:solidFill>
                <a:latin typeface="PT Sans"/>
                <a:ea typeface="PT Sans"/>
                <a:cs typeface="PT Sans"/>
                <a:sym typeface="PT Sans"/>
              </a:rPr>
              <a:t>Pour une expérience utilisateur exceptionnelle sur tous les appareils, nous utilisons Flutter pour le développement d'applications natives et Bootstrap pour une interface web responsive et moderne.</a:t>
            </a:r>
          </a:p>
        </p:txBody>
      </p:sp>
      <p:sp>
        <p:nvSpPr>
          <p:cNvPr name="TextBox 11" id="11"/>
          <p:cNvSpPr txBox="true"/>
          <p:nvPr/>
        </p:nvSpPr>
        <p:spPr>
          <a:xfrm rot="0">
            <a:off x="1047159" y="6613322"/>
            <a:ext cx="4224338" cy="546945"/>
          </a:xfrm>
          <a:prstGeom prst="rect">
            <a:avLst/>
          </a:prstGeom>
        </p:spPr>
        <p:txBody>
          <a:bodyPr anchor="t" rtlCol="false" tIns="0" lIns="0" bIns="0" rIns="0">
            <a:spAutoFit/>
          </a:bodyPr>
          <a:lstStyle/>
          <a:p>
            <a:pPr algn="l">
              <a:lnSpc>
                <a:spcPts val="4125"/>
              </a:lnSpc>
            </a:pPr>
            <a:r>
              <a:rPr lang="en-US" sz="3312" b="true">
                <a:solidFill>
                  <a:srgbClr val="FFFFFF"/>
                </a:solidFill>
                <a:latin typeface="Nunito Bold"/>
                <a:ea typeface="Nunito Bold"/>
                <a:cs typeface="Nunito Bold"/>
                <a:sym typeface="Nunito Bold"/>
              </a:rPr>
              <a:t>Outils d'Organisation</a:t>
            </a:r>
          </a:p>
        </p:txBody>
      </p:sp>
      <p:sp>
        <p:nvSpPr>
          <p:cNvPr name="TextBox 12" id="12"/>
          <p:cNvSpPr txBox="true"/>
          <p:nvPr/>
        </p:nvSpPr>
        <p:spPr>
          <a:xfrm rot="0">
            <a:off x="1047159" y="7513739"/>
            <a:ext cx="16193691" cy="1052808"/>
          </a:xfrm>
          <a:prstGeom prst="rect">
            <a:avLst/>
          </a:prstGeom>
        </p:spPr>
        <p:txBody>
          <a:bodyPr anchor="t" rtlCol="false" tIns="0" lIns="0" bIns="0" rIns="0">
            <a:spAutoFit/>
          </a:bodyPr>
          <a:lstStyle/>
          <a:p>
            <a:pPr algn="l">
              <a:lnSpc>
                <a:spcPts val="3750"/>
              </a:lnSpc>
            </a:pPr>
            <a:r>
              <a:rPr lang="en-US" sz="2312">
                <a:solidFill>
                  <a:srgbClr val="FFFFFF"/>
                </a:solidFill>
                <a:latin typeface="PT Sans"/>
                <a:ea typeface="PT Sans"/>
                <a:cs typeface="PT Sans"/>
                <a:sym typeface="PT Sans"/>
              </a:rPr>
              <a:t>La gestion de projet est optimisée grâce à des outils reconnus tels que Trello ou Jira, garantissant une collaboration transparente et des livraisons efficaces.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0002E">
                <a:alpha val="56078"/>
              </a:srgbClr>
            </a:solidFill>
          </p:spPr>
        </p:sp>
      </p:grpSp>
      <p:sp>
        <p:nvSpPr>
          <p:cNvPr name="TextBox 6" id="6"/>
          <p:cNvSpPr txBox="true"/>
          <p:nvPr/>
        </p:nvSpPr>
        <p:spPr>
          <a:xfrm rot="0">
            <a:off x="1047159" y="3405187"/>
            <a:ext cx="13393188" cy="732682"/>
          </a:xfrm>
          <a:prstGeom prst="rect">
            <a:avLst/>
          </a:prstGeom>
        </p:spPr>
        <p:txBody>
          <a:bodyPr anchor="t" rtlCol="false" tIns="0" lIns="0" bIns="0" rIns="0">
            <a:spAutoFit/>
          </a:bodyPr>
          <a:lstStyle/>
          <a:p>
            <a:pPr algn="l">
              <a:lnSpc>
                <a:spcPts val="5500"/>
              </a:lnSpc>
            </a:pPr>
            <a:r>
              <a:rPr lang="en-US" sz="4375" b="true">
                <a:solidFill>
                  <a:srgbClr val="FFFFFF"/>
                </a:solidFill>
                <a:latin typeface="Nunito Bold"/>
                <a:ea typeface="Nunito Bold"/>
                <a:cs typeface="Nunito Bold"/>
                <a:sym typeface="Nunito Bold"/>
              </a:rPr>
              <a:t>Rejoignez-nous pour une Vie Plus Saine et Épanouie</a:t>
            </a:r>
          </a:p>
        </p:txBody>
      </p:sp>
      <p:sp>
        <p:nvSpPr>
          <p:cNvPr name="TextBox 7" id="7"/>
          <p:cNvSpPr txBox="true"/>
          <p:nvPr/>
        </p:nvSpPr>
        <p:spPr>
          <a:xfrm rot="0">
            <a:off x="1047159" y="4641056"/>
            <a:ext cx="16193691" cy="1052808"/>
          </a:xfrm>
          <a:prstGeom prst="rect">
            <a:avLst/>
          </a:prstGeom>
        </p:spPr>
        <p:txBody>
          <a:bodyPr anchor="t" rtlCol="false" tIns="0" lIns="0" bIns="0" rIns="0">
            <a:spAutoFit/>
          </a:bodyPr>
          <a:lstStyle/>
          <a:p>
            <a:pPr algn="l">
              <a:lnSpc>
                <a:spcPts val="3750"/>
              </a:lnSpc>
            </a:pPr>
            <a:r>
              <a:rPr lang="en-US" sz="2312">
                <a:solidFill>
                  <a:srgbClr val="FFFFFF"/>
                </a:solidFill>
                <a:latin typeface="PT Sans"/>
                <a:ea typeface="PT Sans"/>
                <a:cs typeface="PT Sans"/>
                <a:sym typeface="PT Sans"/>
              </a:rPr>
              <a:t>Notre plateforme est bien plus qu'un simple outil. C'est une communauté, un guide et un soutien pour chacun, afin de surmonter les barrières et d'embrasser pleinement le potentiel d'une vie active et équilibrée.</a:t>
            </a:r>
          </a:p>
        </p:txBody>
      </p:sp>
      <p:grpSp>
        <p:nvGrpSpPr>
          <p:cNvPr name="Group 8" id="8"/>
          <p:cNvGrpSpPr/>
          <p:nvPr/>
        </p:nvGrpSpPr>
        <p:grpSpPr>
          <a:xfrm rot="0">
            <a:off x="1047159" y="6030363"/>
            <a:ext cx="3624558" cy="822874"/>
            <a:chOff x="0" y="0"/>
            <a:chExt cx="4832744" cy="1097166"/>
          </a:xfrm>
        </p:grpSpPr>
        <p:sp>
          <p:nvSpPr>
            <p:cNvPr name="Freeform 9" id="9" descr="preencoded.png">
              <a:hlinkClick r:id="rId3" tooltip="https://www.example.com"/>
            </p:cNvPr>
            <p:cNvSpPr/>
            <p:nvPr/>
          </p:nvSpPr>
          <p:spPr>
            <a:xfrm flipH="false" flipV="false" rot="0">
              <a:off x="0" y="0"/>
              <a:ext cx="4832731" cy="1097153"/>
            </a:xfrm>
            <a:custGeom>
              <a:avLst/>
              <a:gdLst/>
              <a:ahLst/>
              <a:cxnLst/>
              <a:rect r="r" b="b" t="t" l="l"/>
              <a:pathLst>
                <a:path h="1097153" w="4832731">
                  <a:moveTo>
                    <a:pt x="0" y="0"/>
                  </a:moveTo>
                  <a:lnTo>
                    <a:pt x="4832731" y="0"/>
                  </a:lnTo>
                  <a:lnTo>
                    <a:pt x="4832731" y="1097153"/>
                  </a:lnTo>
                  <a:lnTo>
                    <a:pt x="0" y="1097153"/>
                  </a:lnTo>
                  <a:lnTo>
                    <a:pt x="0" y="0"/>
                  </a:lnTo>
                  <a:close/>
                </a:path>
              </a:pathLst>
            </a:custGeom>
            <a:blipFill>
              <a:blip r:embed="rId4"/>
              <a:stretch>
                <a:fillRect l="-289" t="0" r="-289" b="-1"/>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DAHC1n-u_gw</dc:identifier>
  <dcterms:modified xsi:type="dcterms:W3CDTF">2011-08-01T06:04:30Z</dcterms:modified>
  <cp:revision>1</cp:revision>
</cp:coreProperties>
</file>